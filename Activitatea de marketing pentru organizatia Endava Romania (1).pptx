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20"/>
  </p:normalViewPr>
  <p:slideViewPr>
    <p:cSldViewPr showGuides="1">
      <p:cViewPr varScale="1">
        <p:scale>
          <a:sx n="60" d="100"/>
          <a:sy n="60" d="100"/>
        </p:scale>
        <p:origin x="42" y="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87" d="100"/>
          <a:sy n="87" d="100"/>
        </p:scale>
        <p:origin x="70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06196"/>
            <a:ext cx="4352927" cy="114227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2" y="606196"/>
            <a:ext cx="4352927" cy="114227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09600" y="322731"/>
            <a:ext cx="914400" cy="283464"/>
          </a:xfrm>
        </p:spPr>
        <p:txBody>
          <a:bodyPr anchor="ctr"/>
          <a:lstStyle/>
          <a:p>
            <a:fld id="{59722DCF-3C86-4CA9-A79C-7A01DC917267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514600" y="322731"/>
            <a:ext cx="7162800" cy="283464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68000" y="322731"/>
            <a:ext cx="914399" cy="283464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132520"/>
            <a:ext cx="10972800" cy="411588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9787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15CB-5A42-4381-B4B5-1F0A0AD684E0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54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4840225"/>
            <a:ext cx="10963658" cy="7996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5845175"/>
            <a:ext cx="10963658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D2EC77-EDF2-486F-BC40-B49DAB22DB64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647700"/>
            <a:ext cx="10972800" cy="380847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0569" y="606195"/>
            <a:ext cx="4045735" cy="39985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0569" y="4870174"/>
            <a:ext cx="3755116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346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2E3648-85D4-4FD7-B855-79C521A61C61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 anchor="ctr"/>
          <a:lstStyle>
            <a:lvl1pPr algn="ctr">
              <a:defRPr/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609600"/>
            <a:ext cx="6534582" cy="56388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5105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0" y="1411358"/>
            <a:ext cx="3352800" cy="284556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8973" y="4403039"/>
            <a:ext cx="334733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599" y="322731"/>
            <a:ext cx="914401" cy="286868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47E6C56-E35A-43C4-BAC8-C635905FE141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6869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6869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1371600"/>
            <a:ext cx="7239001" cy="48768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54030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3892269" cy="327659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032606"/>
            <a:ext cx="3177209" cy="87123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09600" y="322731"/>
            <a:ext cx="914400" cy="283464"/>
          </a:xfrm>
        </p:spPr>
        <p:txBody>
          <a:bodyPr anchor="ctr"/>
          <a:lstStyle/>
          <a:p>
            <a:fld id="{111FFCFE-B194-4E5A-862C-339E8FEE7136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514600" y="322731"/>
            <a:ext cx="7162800" cy="283464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68000" y="322731"/>
            <a:ext cx="914399" cy="283464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11574" y="1371600"/>
            <a:ext cx="6470826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5791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371600"/>
            <a:ext cx="10049256" cy="3505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76800"/>
            <a:ext cx="7769354" cy="1371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BACA-C806-48AD-B735-075EFFDC0FB5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42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401420"/>
            <a:ext cx="9140954" cy="2836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622197"/>
            <a:ext cx="7312153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6869"/>
          </a:xfrm>
        </p:spPr>
        <p:txBody>
          <a:bodyPr/>
          <a:lstStyle/>
          <a:p>
            <a:fld id="{28F25336-016D-4162-B545-E54B089028A6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9" y="322731"/>
            <a:ext cx="7150608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1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71600"/>
            <a:ext cx="8229600" cy="2567855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375642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DBA1-4626-47FC-856E-159D7E28D490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696" y="322731"/>
            <a:ext cx="7150608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417671"/>
            <a:ext cx="7909560" cy="4830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1F2818-3D93-3C9A-E504-3D8A33F2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C3C3-8EE0-4646-AF47-12E3116D59C3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C970B7-D89D-4042-9AC8-32C22BDD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A35D86-D074-E057-C950-943CC0E1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965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6" y="1371600"/>
            <a:ext cx="8470605" cy="104143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2E1C-7EB3-405E-81B2-32E332CACA0F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2797083"/>
            <a:ext cx="8470605" cy="345131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685800" indent="-4572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01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5" y="1371600"/>
            <a:ext cx="5916508" cy="105210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3464"/>
          </a:xfrm>
        </p:spPr>
        <p:txBody>
          <a:bodyPr/>
          <a:lstStyle/>
          <a:p>
            <a:fld id="{1FE93670-5DDA-427C-9657-21A216413B90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08304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1371599"/>
            <a:ext cx="4663806" cy="487680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59796" y="2807753"/>
            <a:ext cx="5916507" cy="344064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371600"/>
            <a:ext cx="2441448" cy="48768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4C796253-2EF8-E90A-A94F-8CFC6E39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6869"/>
          </a:xfrm>
        </p:spPr>
        <p:txBody>
          <a:bodyPr/>
          <a:lstStyle/>
          <a:p>
            <a:fld id="{88F73B11-D0F5-4A08-A19E-C560E2C4116F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08304" cy="286869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60625" y="1371599"/>
            <a:ext cx="5272821" cy="487680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4856" y="1371600"/>
            <a:ext cx="2441448" cy="487680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57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C04-CC91-4AAF-9006-A3A27BF33173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588424"/>
            <a:ext cx="4659735" cy="1645198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99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291" y="1373986"/>
            <a:ext cx="3493858" cy="345689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DACB-E986-4E04-ADB1-8913384D68D3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373986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355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38E35-CB21-4D15-A87F-675D4C9EDCA4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22181" y="1389134"/>
            <a:ext cx="627922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12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71600"/>
            <a:ext cx="3496147" cy="48768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CA9EE-AFE9-47E0-9F22-915E0A45E5AF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872" y="1371600"/>
            <a:ext cx="7081431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59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3349754" cy="272145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7C504BF7-6B14-4333-B52B-ADBC1BCF47B5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3402" y="1371600"/>
            <a:ext cx="7232901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4352926" cy="76677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84DE9B9-A2D7-1C5E-03A8-327B24C29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2522423"/>
            <a:ext cx="4328497" cy="370057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C1C21BA4-3737-442B-A21A-11EEBBB51C57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4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289" y="1371601"/>
            <a:ext cx="6632111" cy="606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8EF3DE08-A0D1-4FD8-A862-5499266B124D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904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599"/>
            <a:ext cx="3950854" cy="48768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0290" y="2362534"/>
            <a:ext cx="6626014" cy="39015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303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599"/>
            <a:ext cx="6632111" cy="606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6C5A15EF-D72C-40D5-8663-2C77F9B42EC1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799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53334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362534"/>
            <a:ext cx="6631984" cy="388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62B7BD4-B0D6-F90A-8AD2-9FA1574A17A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616880" y="1371599"/>
            <a:ext cx="3950854" cy="48768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68809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118" y="1371600"/>
            <a:ext cx="7172282" cy="60688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D56F8A71-DDE0-43CA-81C3-EA9C4963E6AE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600"/>
            <a:ext cx="341376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0118" y="2362534"/>
            <a:ext cx="7172282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582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371600"/>
            <a:ext cx="7166187" cy="60688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E525A034-19B5-40C2-A08C-916D805B8A45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4953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362534"/>
            <a:ext cx="7166188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B8151E2-ED8A-E9B1-A83A-CF01A37B5F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5593" y="1373529"/>
            <a:ext cx="341376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2373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077" y="1371599"/>
            <a:ext cx="4667987" cy="60688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DD95619-B63B-77E6-BE04-262FAAD1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C5EE04-1B51-44BB-A7D3-16AEE79C4983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1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5882642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6805" y="2362535"/>
            <a:ext cx="4675596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734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1371600"/>
            <a:ext cx="4700225" cy="60688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84676EBB-6E0A-AD72-143B-39A640FF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9D7598-9667-4FA1-B20E-133F7DF30C66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362534"/>
            <a:ext cx="4700225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7DB94FD-8F2A-F0DB-71EB-3565077D4A2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99758" y="1371600"/>
            <a:ext cx="5882642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404400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1371599"/>
            <a:ext cx="3363514" cy="91440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BA07C19-A01D-B0B9-930B-9E9E7D2E65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E0F4D2D3-E754-452C-996E-A69280848F28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799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903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600"/>
            <a:ext cx="7197978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8887" y="2670047"/>
            <a:ext cx="3363513" cy="35783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419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1371599"/>
            <a:ext cx="3363513" cy="91440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17A20D89-EAE3-437D-A562-62F383E1F1E4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776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5" y="2670047"/>
            <a:ext cx="3363386" cy="35783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58FD965-81B2-7E47-FC2D-2FFFA61C3D0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78198" y="1371600"/>
            <a:ext cx="7197978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1371600"/>
            <a:ext cx="2699254" cy="183650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81F196-B1D0-4451-BD57-0DCCBF9A6C9D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1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1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697" y="1371600"/>
            <a:ext cx="7885606" cy="48768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3147" y="3592150"/>
            <a:ext cx="2699254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380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1371600"/>
            <a:ext cx="2699254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505D57-3CC9-48CD-A7D7-2BE3E605D0A5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592150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7A8F660F-60A6-785B-047B-B48856C7BB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96794" y="1371600"/>
            <a:ext cx="7885606" cy="48768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4009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7"/>
            <a:ext cx="4019522" cy="123613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2D9E4C7C-63E4-6DA5-5108-15D4DA6D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3F2E167B-0B78-4B36-8A57-49085AADF134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10966705" cy="325661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8927" y="5012267"/>
            <a:ext cx="6563474" cy="123613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2469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205330"/>
            <a:ext cx="3044954" cy="201958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E59D63EA-A363-194D-0D29-EB63BC89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B9462E82-6E33-4AEF-AE7B-DF7C6F462D56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10966705" cy="244968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44358" y="4205331"/>
            <a:ext cx="7538041" cy="201958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5680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90892"/>
            <a:ext cx="3021873" cy="177354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83BF6E84-C156-49F4-8E82-3F8A64544B22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1390891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4127577"/>
            <a:ext cx="10972801" cy="2120823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6492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5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001F9C0A-11C5-40F2-BD0E-27AA70E2625D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4952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501206"/>
            <a:ext cx="4513079" cy="374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12485" y="2501206"/>
            <a:ext cx="6066867" cy="374719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885909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9CDFB84F-677F-480D-99C2-22BB3A82E4AD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7999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501206"/>
            <a:ext cx="4931835" cy="374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1240" y="2501206"/>
            <a:ext cx="5651159" cy="3747194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1C640349-FC90-47D1-9F46-4D34EA792223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5AEE073-61C4-86E8-2CDD-336E22094FD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2647" y="2501206"/>
            <a:ext cx="6066867" cy="374719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BB848C29-CF42-98B7-D019-4F384E06AD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069321" y="2501206"/>
            <a:ext cx="4513079" cy="374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42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371600"/>
            <a:ext cx="4675633" cy="9906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87C5F-6A61-4864-9518-A5514F3191A0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746246"/>
            <a:ext cx="4675632" cy="350215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2502" y="1371600"/>
            <a:ext cx="5869899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28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3425954" cy="91745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669B-9B51-4A21-90C8-BB2E110B3FD6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2673096"/>
            <a:ext cx="3429000" cy="35753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5359" y="1371600"/>
            <a:ext cx="7152279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5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3992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524A6D49-9F84-4D2B-BCDD-C2F0AED64BFE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5AEE073-61C4-86E8-2CDD-336E22094FD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2647" y="2154876"/>
            <a:ext cx="8499719" cy="409352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15F7C753-E8D9-F006-4FC2-8BA2C55187F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496414" y="2154876"/>
            <a:ext cx="2085986" cy="4093524"/>
          </a:xfrm>
        </p:spPr>
        <p:txBody>
          <a:bodyPr anchor="t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932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3992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275F2D28-3585-40CA-9EB9-F9971C1AA1E0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B8BA6868-FD5D-17A2-6CAE-853852E870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2169506"/>
            <a:ext cx="10966705" cy="329251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15F7C753-E8D9-F006-4FC2-8BA2C55187F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9600" y="5846064"/>
            <a:ext cx="10972800" cy="402336"/>
          </a:xfrm>
        </p:spPr>
        <p:txBody>
          <a:bodyPr anchor="b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0977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5325034"/>
            <a:ext cx="9762068" cy="91636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E73000B7-56E6-4A26-8487-963BD31161AF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14400"/>
            <a:ext cx="10972800" cy="4105835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27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851345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7F0C99-9A58-96BA-B51F-4BEDCF1A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257802"/>
            <a:ext cx="10052304" cy="990598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6C671BD4-4E81-464B-A994-00077AEC80C3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859DF22-2D22-B432-1B7E-1CCD6DA9C5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904875"/>
            <a:ext cx="10052050" cy="4038600"/>
          </a:xfrm>
        </p:spPr>
        <p:txBody>
          <a:bodyPr anchor="t"/>
          <a:lstStyle>
            <a:lvl1pPr>
              <a:lnSpc>
                <a:spcPct val="90000"/>
              </a:lnSpc>
              <a:buNone/>
              <a:defRPr sz="300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919335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9E00404-475A-8BBB-C6CE-9106DE692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0" y="3962400"/>
            <a:ext cx="2514599" cy="228599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78216DC3-F1E3-4679-A7A7-118C827BFDD8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7D4B19F-6F49-D42F-E0D8-B04A3786655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904875"/>
            <a:ext cx="8077200" cy="5343524"/>
          </a:xfrm>
        </p:spPr>
        <p:txBody>
          <a:bodyPr anchor="t"/>
          <a:lstStyle>
            <a:lvl1pPr>
              <a:lnSpc>
                <a:spcPct val="90000"/>
              </a:lnSpc>
              <a:buNone/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5543294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2D412A9A-F88E-45C5-903F-2119D36A77A2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1371600"/>
            <a:ext cx="10972800" cy="4876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19655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9AC46E-311C-49B6-8A0E-D2095F2328AF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371600"/>
            <a:ext cx="10969752" cy="4876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3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F10A1-07E0-4636-B3BE-AE66FBE8467A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371600"/>
            <a:ext cx="10969752" cy="4876800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36313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572631"/>
            <a:ext cx="10966704" cy="64008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4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67E4DBA-3642-44F7-A1E0-3D9BCA1A53C6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1371600"/>
            <a:ext cx="10966704" cy="3806142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165654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5561790"/>
            <a:ext cx="9137903" cy="686610"/>
          </a:xfrm>
        </p:spPr>
        <p:txBody>
          <a:bodyPr anchor="b">
            <a:normAutofit/>
          </a:bodyPr>
          <a:lstStyle>
            <a:lvl1pPr algn="r">
              <a:lnSpc>
                <a:spcPct val="120000"/>
              </a:lnSpc>
              <a:defRPr sz="24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5F8CD485-684D-4C35-BDF2-D991DF8FFCA1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71600"/>
            <a:ext cx="9144000" cy="3806142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907629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5561790"/>
            <a:ext cx="5954436" cy="686610"/>
          </a:xfrm>
        </p:spPr>
        <p:txBody>
          <a:bodyPr anchor="b">
            <a:normAutofit/>
          </a:bodyPr>
          <a:lstStyle>
            <a:lvl1pPr algn="r">
              <a:lnSpc>
                <a:spcPct val="120000"/>
              </a:lnSpc>
              <a:defRPr sz="2000" b="1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CE2A531-A855-4FC2-83C9-7F8A2FC0A7A9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88534"/>
            <a:ext cx="9137904" cy="3789208"/>
          </a:xfrm>
        </p:spPr>
        <p:txBody>
          <a:bodyPr anchor="t">
            <a:norm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3200" b="1" i="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539854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168559-22AF-9500-1ED0-9B034424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69752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1B9D-4D4C-40F1-8133-7CADC817E0C1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01207"/>
            <a:ext cx="5289973" cy="3747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6331" y="2501206"/>
            <a:ext cx="5289973" cy="374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80CBD81-BF35-3FFE-84F1-E86AACCA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10745788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F4366-C1D4-4687-A56C-18AD97870CFF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255322"/>
            <a:ext cx="5289972" cy="554724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948211"/>
            <a:ext cx="5289972" cy="3300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330" y="2255322"/>
            <a:ext cx="5289974" cy="554724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948211"/>
            <a:ext cx="5302568" cy="3300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681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63656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60159-51DF-49CB-B647-76DC93F9005D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1474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B478A-2183-4725-BFFE-F5022B99B7BE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505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3801195" cy="12192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7116-79D5-4961-A943-953BCFEA97DD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974848"/>
            <a:ext cx="3801195" cy="32735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371600"/>
            <a:ext cx="6774366" cy="4876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8978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3595634" cy="31242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5BE2D-D64B-4B05-B6D8-FA0500749FF9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4800600"/>
            <a:ext cx="3595634" cy="14601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84991" y="1371600"/>
            <a:ext cx="699741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637986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72800" cy="1865376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BD5A60-72B7-4332-B4B3-40B2CC6142CE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621024"/>
            <a:ext cx="10972800" cy="262737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490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E2B004-0AA0-4203-BDB3-16A698CB99F9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870748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12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1760"/>
            <a:ext cx="10972799" cy="735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501206"/>
            <a:ext cx="10966703" cy="372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35AEAE7-3C36-4273-AC18-E54349BDD515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085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7" r:id="rId1"/>
    <p:sldLayoutId id="2147483894" r:id="rId2"/>
    <p:sldLayoutId id="2147483893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48" r:id="rId13"/>
    <p:sldLayoutId id="2147483904" r:id="rId14"/>
    <p:sldLayoutId id="2147483905" r:id="rId15"/>
    <p:sldLayoutId id="2147483906" r:id="rId16"/>
    <p:sldLayoutId id="2147483907" r:id="rId17"/>
    <p:sldLayoutId id="2147483908" r:id="rId18"/>
    <p:sldLayoutId id="2147483951" r:id="rId19"/>
    <p:sldLayoutId id="2147483909" r:id="rId20"/>
    <p:sldLayoutId id="2147483910" r:id="rId21"/>
    <p:sldLayoutId id="2147483911" r:id="rId22"/>
    <p:sldLayoutId id="2147483912" r:id="rId23"/>
    <p:sldLayoutId id="2147483913" r:id="rId24"/>
    <p:sldLayoutId id="2147483914" r:id="rId25"/>
    <p:sldLayoutId id="2147483915" r:id="rId26"/>
    <p:sldLayoutId id="2147483916" r:id="rId27"/>
    <p:sldLayoutId id="2147483917" r:id="rId28"/>
    <p:sldLayoutId id="2147483918" r:id="rId29"/>
    <p:sldLayoutId id="2147483919" r:id="rId30"/>
    <p:sldLayoutId id="2147483920" r:id="rId31"/>
    <p:sldLayoutId id="2147483921" r:id="rId32"/>
    <p:sldLayoutId id="2147483922" r:id="rId33"/>
    <p:sldLayoutId id="2147483923" r:id="rId34"/>
    <p:sldLayoutId id="2147483924" r:id="rId35"/>
    <p:sldLayoutId id="2147483925" r:id="rId36"/>
    <p:sldLayoutId id="2147483926" r:id="rId37"/>
    <p:sldLayoutId id="2147483949" r:id="rId38"/>
    <p:sldLayoutId id="2147483950" r:id="rId39"/>
    <p:sldLayoutId id="2147483927" r:id="rId40"/>
    <p:sldLayoutId id="2147483928" r:id="rId41"/>
    <p:sldLayoutId id="2147483929" r:id="rId42"/>
    <p:sldLayoutId id="2147483931" r:id="rId43"/>
    <p:sldLayoutId id="2147483932" r:id="rId44"/>
    <p:sldLayoutId id="2147483952" r:id="rId45"/>
    <p:sldLayoutId id="2147483936" r:id="rId46"/>
    <p:sldLayoutId id="2147483937" r:id="rId47"/>
    <p:sldLayoutId id="2147483938" r:id="rId48"/>
    <p:sldLayoutId id="2147483939" r:id="rId49"/>
    <p:sldLayoutId id="2147483940" r:id="rId50"/>
    <p:sldLayoutId id="2147483941" r:id="rId51"/>
    <p:sldLayoutId id="2147483942" r:id="rId52"/>
    <p:sldLayoutId id="2147483943" r:id="rId53"/>
    <p:sldLayoutId id="2147483944" r:id="rId54"/>
    <p:sldLayoutId id="2147483945" r:id="rId55"/>
    <p:sldLayoutId id="2147483946" r:id="rId5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b="1" i="0" kern="1200" cap="all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25" pos="7296" userDrawn="1">
          <p15:clr>
            <a:srgbClr val="F26B43"/>
          </p15:clr>
        </p15:guide>
        <p15:guide id="26" pos="384" userDrawn="1">
          <p15:clr>
            <a:srgbClr val="F26B43"/>
          </p15:clr>
        </p15:guide>
        <p15:guide id="27" orient="horz" pos="192" userDrawn="1">
          <p15:clr>
            <a:srgbClr val="F26B43"/>
          </p15:clr>
        </p15:guide>
        <p15:guide id="28" orient="horz" pos="3936" userDrawn="1">
          <p15:clr>
            <a:srgbClr val="F26B43"/>
          </p15:clr>
        </p15:guide>
        <p15:guide id="29" orient="horz" pos="384" userDrawn="1">
          <p15:clr>
            <a:srgbClr val="F26B43"/>
          </p15:clr>
        </p15:guide>
        <p15:guide id="30" orient="horz" pos="4128" userDrawn="1">
          <p15:clr>
            <a:srgbClr val="F26B43"/>
          </p15:clr>
        </p15:guide>
        <p15:guide id="31" orient="horz" pos="864" userDrawn="1">
          <p15:clr>
            <a:srgbClr val="F26B43"/>
          </p15:clr>
        </p15:guide>
        <p15:guide id="32" pos="6720" userDrawn="1">
          <p15:clr>
            <a:srgbClr val="F26B43"/>
          </p15:clr>
        </p15:guide>
        <p15:guide id="33" pos="6096" userDrawn="1">
          <p15:clr>
            <a:srgbClr val="F26B43"/>
          </p15:clr>
        </p15:guide>
        <p15:guide id="34" pos="960" userDrawn="1">
          <p15:clr>
            <a:srgbClr val="F26B43"/>
          </p15:clr>
        </p15:guide>
        <p15:guide id="35" pos="15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microsoft.com/office/2007/relationships/hdphoto" Target="../media/hdphoto5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835F-BBCE-C802-8030-3C0AF4804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47" y="357423"/>
            <a:ext cx="4352927" cy="1142277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Activitatea de marketing pentru organizatia Endava Romania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DA1EC-08F5-E372-8F75-321D772EE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9454" y="457200"/>
            <a:ext cx="4952999" cy="1519873"/>
          </a:xfrm>
        </p:spPr>
        <p:txBody>
          <a:bodyPr>
            <a:normAutofit fontScale="85000" lnSpcReduction="10000"/>
          </a:bodyPr>
          <a:lstStyle/>
          <a:p>
            <a:r>
              <a:rPr lang="en-US" sz="1500" dirty="0"/>
              <a:t>Academia de Studii Economice Bucuresti</a:t>
            </a:r>
          </a:p>
          <a:p>
            <a:r>
              <a:rPr lang="en-US" sz="1500" dirty="0"/>
              <a:t>Facultatea de Cibernetica, Statistica si Informatica Economica</a:t>
            </a:r>
          </a:p>
          <a:p>
            <a:r>
              <a:rPr lang="en-US" sz="1500" dirty="0"/>
              <a:t> </a:t>
            </a:r>
          </a:p>
          <a:p>
            <a:r>
              <a:rPr lang="en-US" sz="1500" dirty="0"/>
              <a:t>Caraman Iulia-Maria </a:t>
            </a:r>
          </a:p>
          <a:p>
            <a:r>
              <a:rPr lang="en-US" sz="1500" dirty="0"/>
              <a:t>Grupa 1014 </a:t>
            </a:r>
          </a:p>
          <a:p>
            <a:r>
              <a:rPr lang="en-US" sz="1500" dirty="0"/>
              <a:t>Seria D</a:t>
            </a:r>
          </a:p>
          <a:p>
            <a:endParaRPr lang="en-US" dirty="0"/>
          </a:p>
        </p:txBody>
      </p:sp>
      <p:pic>
        <p:nvPicPr>
          <p:cNvPr id="6" name="Picture Placeholder 5" descr="A close up of a metal structure">
            <a:extLst>
              <a:ext uri="{FF2B5EF4-FFF2-40B4-BE49-F238E27FC236}">
                <a16:creationId xmlns:a16="http://schemas.microsoft.com/office/drawing/2014/main" id="{13A19CA2-4E17-059E-72FF-341898B950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8" b="21878"/>
          <a:stretch/>
        </p:blipFill>
        <p:spPr>
          <a:xfrm>
            <a:off x="609600" y="2132520"/>
            <a:ext cx="10972800" cy="4115880"/>
          </a:xfrm>
        </p:spPr>
      </p:pic>
      <p:pic>
        <p:nvPicPr>
          <p:cNvPr id="1028" name="Picture 4" descr="Oportunități noi de angajare la Endava">
            <a:extLst>
              <a:ext uri="{FF2B5EF4-FFF2-40B4-BE49-F238E27FC236}">
                <a16:creationId xmlns:a16="http://schemas.microsoft.com/office/drawing/2014/main" id="{CD9B31DA-48E2-B578-71B2-E50E88631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54" y="2132520"/>
            <a:ext cx="11125199" cy="411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9B8E8D-309C-D916-B2E2-F121EF4923D4}"/>
              </a:ext>
            </a:extLst>
          </p:cNvPr>
          <p:cNvSpPr txBox="1"/>
          <p:nvPr/>
        </p:nvSpPr>
        <p:spPr>
          <a:xfrm>
            <a:off x="1676400" y="6380747"/>
            <a:ext cx="1196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 </a:t>
            </a:r>
            <a:r>
              <a:rPr lang="en-US" sz="1400" dirty="0" err="1"/>
              <a:t>analiză</a:t>
            </a:r>
            <a:r>
              <a:rPr lang="en-US" sz="1400" dirty="0"/>
              <a:t> a </a:t>
            </a:r>
            <a:r>
              <a:rPr lang="en-US" sz="1400" dirty="0" err="1"/>
              <a:t>modului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care o </a:t>
            </a:r>
            <a:r>
              <a:rPr lang="en-US" sz="1400" dirty="0" err="1"/>
              <a:t>companie</a:t>
            </a:r>
            <a:r>
              <a:rPr lang="en-US" sz="1400" dirty="0"/>
              <a:t> </a:t>
            </a:r>
            <a:r>
              <a:rPr lang="en-US" sz="1400" dirty="0" err="1"/>
              <a:t>uriașă</a:t>
            </a:r>
            <a:r>
              <a:rPr lang="en-US" sz="1400" dirty="0"/>
              <a:t> de IT </a:t>
            </a:r>
            <a:r>
              <a:rPr lang="en-US" sz="1400" dirty="0" err="1"/>
              <a:t>își</a:t>
            </a:r>
            <a:r>
              <a:rPr lang="en-US" sz="1400" dirty="0"/>
              <a:t> </a:t>
            </a:r>
            <a:r>
              <a:rPr lang="en-US" sz="1400" dirty="0" err="1"/>
              <a:t>gestionează</a:t>
            </a:r>
            <a:r>
              <a:rPr lang="en-US" sz="1400" dirty="0"/>
              <a:t> </a:t>
            </a:r>
            <a:r>
              <a:rPr lang="en-US" sz="1400" dirty="0" err="1"/>
              <a:t>afacerea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imaginea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România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8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ndava. Un business în tehnologie guvernat de sustenabilitate – Jurnal de  Sustenabilitate">
            <a:extLst>
              <a:ext uri="{FF2B5EF4-FFF2-40B4-BE49-F238E27FC236}">
                <a16:creationId xmlns:a16="http://schemas.microsoft.com/office/drawing/2014/main" id="{906A41ED-6077-5102-2E11-B136CDF97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1600" y="914400"/>
            <a:ext cx="6580661" cy="4709151"/>
          </a:xfrm>
          <a:prstGeom prst="rect">
            <a:avLst/>
          </a:prstGeom>
          <a:solidFill>
            <a:srgbClr val="FFFFFF"/>
          </a:solidFill>
          <a:effectLst>
            <a:reflection blurRad="6350" stA="50000" endA="275" endPos="40000" dist="1016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CB4EA79-2A22-E970-4A9C-5B39413B9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79249"/>
            <a:ext cx="4648199" cy="667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3200" dirty="0"/>
              <a:t>Endava Romania</a:t>
            </a:r>
            <a:br>
              <a:rPr lang="en-US" sz="3200" dirty="0"/>
            </a:br>
            <a:br>
              <a:rPr lang="en-US" sz="1800" dirty="0"/>
            </a:br>
            <a:r>
              <a:rPr lang="en-US" altLang="en-US" sz="1800" b="0" cap="none" dirty="0" err="1">
                <a:cs typeface="Dreaming Outloud Pro" panose="020F0502020204030204" pitchFamily="66" charset="0"/>
              </a:rPr>
              <a:t>Fondată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 </a:t>
            </a:r>
            <a:r>
              <a:rPr lang="en-US" altLang="en-US" sz="1800" b="0" cap="none" dirty="0" err="1">
                <a:cs typeface="Dreaming Outloud Pro" panose="020F0502020204030204" pitchFamily="66" charset="0"/>
              </a:rPr>
              <a:t>în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 2000 (sub </a:t>
            </a:r>
            <a:r>
              <a:rPr lang="en-US" altLang="en-US" sz="1800" b="0" cap="none" dirty="0" err="1">
                <a:cs typeface="Dreaming Outloud Pro" panose="020F0502020204030204" pitchFamily="66" charset="0"/>
              </a:rPr>
              <a:t>numele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 de Concise).</a:t>
            </a:r>
            <a:br>
              <a:rPr lang="en-US" altLang="en-US" sz="1800" b="0" cap="none" dirty="0">
                <a:cs typeface="Dreaming Outloud Pro" panose="020F0502020204030204" pitchFamily="66" charset="0"/>
              </a:rPr>
            </a:br>
            <a:r>
              <a:rPr lang="en-US" altLang="en-US" sz="1800" b="0" cap="none" dirty="0" err="1">
                <a:cs typeface="Dreaming Outloud Pro" panose="020F0502020204030204" pitchFamily="66" charset="0"/>
              </a:rPr>
              <a:t>În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 2006 </a:t>
            </a:r>
            <a:r>
              <a:rPr lang="en-US" altLang="en-US" sz="1800" b="0" cap="none" dirty="0" err="1">
                <a:cs typeface="Dreaming Outloud Pro" panose="020F0502020204030204" pitchFamily="66" charset="0"/>
              </a:rPr>
              <a:t>devine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 </a:t>
            </a:r>
            <a:r>
              <a:rPr lang="en-US" altLang="en-US" sz="1800" b="0" cap="none" dirty="0" err="1">
                <a:cs typeface="Dreaming Outloud Pro" panose="020F0502020204030204" pitchFamily="66" charset="0"/>
              </a:rPr>
              <a:t>oficial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 Endava </a:t>
            </a:r>
            <a:r>
              <a:rPr lang="en-US" altLang="en-US" sz="1800" b="0" cap="none" dirty="0" err="1">
                <a:cs typeface="Dreaming Outloud Pro" panose="020F0502020204030204" pitchFamily="66" charset="0"/>
              </a:rPr>
              <a:t>și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extinde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br>
              <a:rPr lang="en-US" altLang="en-US" sz="1800" b="0" cap="none" dirty="0">
                <a:cs typeface="Dreaming Outloud Pro" panose="020F0502020204030204" pitchFamily="66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rapid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România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București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, Cluj,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Iași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Obiect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de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activitate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Servicii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tehnologie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consultanță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IT.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ocupă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de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"Digital Transformation"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adică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ajută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alte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firme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să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treacă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de la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procese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vechi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soluții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digitale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moderne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Indicatori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economici (2023):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cs typeface="Dreaming Outloud Pro" panose="020F050202020403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Cifră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afaceri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România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1,32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miliarde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RON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Profit net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România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188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milioane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RON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Angajați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Peste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4.500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România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cel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mai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mare pol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talente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cs typeface="Dreaming Outloud Pro" panose="020F0502020204030204" pitchFamily="66" charset="0"/>
              </a:rPr>
              <a:t> 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cs typeface="Dreaming Outloud Pro" panose="020F0502020204030204" pitchFamily="66" charset="0"/>
              </a:rPr>
              <a:t>grupului</a:t>
            </a:r>
            <a:r>
              <a:rPr lang="en-US" altLang="en-US" sz="1800" b="0" cap="none" dirty="0">
                <a:cs typeface="Dreaming Outloud Pro" panose="020F0502020204030204" pitchFamily="66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cs typeface="Dreaming Outloud Pro" panose="020F050202020403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1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Title 1">
            <a:extLst>
              <a:ext uri="{FF2B5EF4-FFF2-40B4-BE49-F238E27FC236}">
                <a16:creationId xmlns:a16="http://schemas.microsoft.com/office/drawing/2014/main" id="{5B10C1DA-FE0A-D947-009D-0FFDCF70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0" y="335280"/>
            <a:ext cx="4278556" cy="1854874"/>
          </a:xfrm>
        </p:spPr>
        <p:txBody>
          <a:bodyPr>
            <a:noAutofit/>
          </a:bodyPr>
          <a:lstStyle/>
          <a:p>
            <a:pPr algn="r"/>
            <a:r>
              <a:rPr lang="en-US" sz="3200" dirty="0"/>
              <a:t>Analiza </a:t>
            </a:r>
            <a:r>
              <a:rPr lang="en-US" sz="3200" dirty="0" err="1"/>
              <a:t>Macromediului</a:t>
            </a:r>
            <a:r>
              <a:rPr lang="en-US" sz="3200" dirty="0"/>
              <a:t> (</a:t>
            </a:r>
            <a:r>
              <a:rPr lang="en-US" sz="3200" dirty="0" err="1"/>
              <a:t>Factorii</a:t>
            </a:r>
            <a:r>
              <a:rPr lang="en-US" sz="3200" dirty="0"/>
              <a:t> din exterior)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3076" name="Picture 4" descr="Endava completes acquisition of GalaxE Solutions – Outsourcing-Today.ro">
            <a:extLst>
              <a:ext uri="{FF2B5EF4-FFF2-40B4-BE49-F238E27FC236}">
                <a16:creationId xmlns:a16="http://schemas.microsoft.com/office/drawing/2014/main" id="{236BC2E9-1B19-CF64-E5BA-EA3245DDE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2" r="8622"/>
          <a:stretch>
            <a:fillRect/>
          </a:stretch>
        </p:blipFill>
        <p:spPr bwMode="auto">
          <a:xfrm>
            <a:off x="369644" y="353650"/>
            <a:ext cx="5868591" cy="4038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Content Placeholder 3">
            <a:extLst>
              <a:ext uri="{FF2B5EF4-FFF2-40B4-BE49-F238E27FC236}">
                <a16:creationId xmlns:a16="http://schemas.microsoft.com/office/drawing/2014/main" id="{6FCDC43D-648E-1A6E-EB3C-60FEE5BA80C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 flipV="1">
            <a:off x="8883147" y="6248399"/>
            <a:ext cx="108453" cy="45719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EA50C-579E-F7FE-8B09-2103CB1F72BD}"/>
              </a:ext>
            </a:extLst>
          </p:cNvPr>
          <p:cNvSpPr txBox="1"/>
          <p:nvPr/>
        </p:nvSpPr>
        <p:spPr>
          <a:xfrm>
            <a:off x="6781800" y="2166091"/>
            <a:ext cx="52255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Tehnologic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inoveze</a:t>
            </a:r>
            <a:r>
              <a:rPr lang="en-US" dirty="0"/>
              <a:t> non-stop </a:t>
            </a:r>
            <a:r>
              <a:rPr lang="en-US" dirty="0" err="1"/>
              <a:t>în</a:t>
            </a:r>
            <a:r>
              <a:rPr lang="en-US" dirty="0"/>
              <a:t> "</a:t>
            </a:r>
            <a:r>
              <a:rPr lang="en-US" dirty="0" err="1"/>
              <a:t>arhitecturi</a:t>
            </a:r>
            <a:r>
              <a:rPr lang="en-US" dirty="0"/>
              <a:t> de </a:t>
            </a:r>
            <a:r>
              <a:rPr lang="en-US" dirty="0" err="1"/>
              <a:t>sistem</a:t>
            </a:r>
            <a:r>
              <a:rPr lang="en-US" dirty="0"/>
              <a:t>" (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e </a:t>
            </a:r>
            <a:r>
              <a:rPr lang="en-US" dirty="0" err="1"/>
              <a:t>construit</a:t>
            </a:r>
            <a:r>
              <a:rPr lang="en-US" dirty="0"/>
              <a:t> un soft)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rămâne</a:t>
            </a:r>
            <a:r>
              <a:rPr lang="en-US" dirty="0"/>
              <a:t> </a:t>
            </a:r>
            <a:r>
              <a:rPr lang="en-US" dirty="0" err="1"/>
              <a:t>relevanți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it-IT" b="1" dirty="0"/>
              <a:t>Economic:</a:t>
            </a:r>
            <a:r>
              <a:rPr lang="it-IT" dirty="0"/>
              <a:t> Monitorizează veniturile globale (£743.2 mil.) și stabilitatea financiară din România.</a:t>
            </a:r>
          </a:p>
          <a:p>
            <a:endParaRPr lang="it-IT" dirty="0"/>
          </a:p>
          <a:p>
            <a:r>
              <a:rPr lang="en-US" b="1" dirty="0"/>
              <a:t>Socio-Cultural:</a:t>
            </a:r>
            <a:r>
              <a:rPr lang="en-US" dirty="0"/>
              <a:t> </a:t>
            </a:r>
            <a:r>
              <a:rPr lang="en-US" dirty="0" err="1"/>
              <a:t>Succesul</a:t>
            </a:r>
            <a:r>
              <a:rPr lang="en-US" dirty="0"/>
              <a:t> lor </a:t>
            </a:r>
            <a:r>
              <a:rPr lang="en-US" dirty="0" err="1"/>
              <a:t>depinde</a:t>
            </a:r>
            <a:r>
              <a:rPr lang="en-US" dirty="0"/>
              <a:t> de </a:t>
            </a:r>
            <a:r>
              <a:rPr lang="en-US" dirty="0" err="1"/>
              <a:t>cât</a:t>
            </a:r>
            <a:r>
              <a:rPr lang="en-US" dirty="0"/>
              <a:t> de </a:t>
            </a:r>
            <a:r>
              <a:rPr lang="en-US" dirty="0" err="1"/>
              <a:t>educați</a:t>
            </a:r>
            <a:r>
              <a:rPr lang="en-US" dirty="0"/>
              <a:t> sunt </a:t>
            </a:r>
            <a:r>
              <a:rPr lang="en-US" dirty="0" err="1"/>
              <a:t>tinerii</a:t>
            </a:r>
            <a:r>
              <a:rPr lang="en-US" dirty="0"/>
              <a:t> din </a:t>
            </a:r>
            <a:r>
              <a:rPr lang="en-US" dirty="0" err="1"/>
              <a:t>universitățile</a:t>
            </a:r>
            <a:r>
              <a:rPr lang="en-US" dirty="0"/>
              <a:t> </a:t>
            </a:r>
            <a:r>
              <a:rPr lang="en-US" dirty="0" err="1"/>
              <a:t>românești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7CEA6D-084C-3814-C020-B7E98BEEAA39}"/>
              </a:ext>
            </a:extLst>
          </p:cNvPr>
          <p:cNvSpPr txBox="1"/>
          <p:nvPr/>
        </p:nvSpPr>
        <p:spPr>
          <a:xfrm>
            <a:off x="904235" y="5595379"/>
            <a:ext cx="1066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Politic </a:t>
            </a:r>
            <a:r>
              <a:rPr lang="en-US" b="1" dirty="0" err="1"/>
              <a:t>și</a:t>
            </a:r>
            <a:r>
              <a:rPr lang="en-US" b="1" dirty="0"/>
              <a:t> Juridic: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listați</a:t>
            </a:r>
            <a:r>
              <a:rPr lang="en-US" dirty="0"/>
              <a:t> la bursa din New York,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depună</a:t>
            </a:r>
            <a:r>
              <a:rPr lang="en-US" dirty="0"/>
              <a:t> </a:t>
            </a:r>
            <a:r>
              <a:rPr lang="en-US" dirty="0" err="1"/>
              <a:t>rapoarte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stricte</a:t>
            </a:r>
            <a:r>
              <a:rPr lang="en-US" dirty="0"/>
              <a:t>, cum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b="1" dirty="0" err="1"/>
              <a:t>Raportul</a:t>
            </a:r>
            <a:r>
              <a:rPr lang="en-US" b="1" dirty="0"/>
              <a:t> 20-F</a:t>
            </a:r>
            <a:r>
              <a:rPr lang="en-US" dirty="0"/>
              <a:t> (un document </a:t>
            </a:r>
            <a:r>
              <a:rPr lang="en-US" dirty="0" err="1"/>
              <a:t>uriaș</a:t>
            </a:r>
            <a:r>
              <a:rPr lang="en-US" dirty="0"/>
              <a:t> cu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firmei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investitori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25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Title 1">
            <a:extLst>
              <a:ext uri="{FF2B5EF4-FFF2-40B4-BE49-F238E27FC236}">
                <a16:creationId xmlns:a16="http://schemas.microsoft.com/office/drawing/2014/main" id="{CF7C9C2F-6437-868C-6A51-2FC624D86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1369836"/>
            <a:ext cx="4949825" cy="5105400"/>
          </a:xfrm>
        </p:spPr>
        <p:txBody>
          <a:bodyPr>
            <a:normAutofit/>
          </a:bodyPr>
          <a:lstStyle/>
          <a:p>
            <a:r>
              <a:rPr lang="en-US" sz="3200" dirty="0" err="1"/>
              <a:t>Micromediul</a:t>
            </a:r>
            <a:br>
              <a:rPr lang="en-US" sz="3200" dirty="0"/>
            </a:br>
            <a:br>
              <a:rPr lang="en-US" sz="3200" dirty="0"/>
            </a:br>
            <a:r>
              <a:rPr lang="en-US" sz="1600" b="0" cap="none" dirty="0" err="1"/>
              <a:t>Clienții</a:t>
            </a:r>
            <a:r>
              <a:rPr lang="en-US" sz="1600" b="0" cap="none" dirty="0"/>
              <a:t> (B2B - business to business): </a:t>
            </a:r>
            <a:r>
              <a:rPr lang="en-US" sz="1600" b="0" cap="none" dirty="0" err="1"/>
              <a:t>endava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lucrează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doar</a:t>
            </a:r>
            <a:r>
              <a:rPr lang="en-US" sz="1600" b="0" cap="none" dirty="0"/>
              <a:t> cu </a:t>
            </a:r>
            <a:r>
              <a:rPr lang="en-US" sz="1600" b="0" cap="none" dirty="0" err="1"/>
              <a:t>alte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firme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mari</a:t>
            </a:r>
            <a:r>
              <a:rPr lang="en-US" sz="1600" b="0" cap="none" dirty="0"/>
              <a:t>, </a:t>
            </a:r>
            <a:r>
              <a:rPr lang="en-US" sz="1600" b="0" cap="none" dirty="0" err="1"/>
              <a:t>împărțite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în</a:t>
            </a:r>
            <a:r>
              <a:rPr lang="en-US" sz="1600" b="0" cap="none" dirty="0"/>
              <a:t>:</a:t>
            </a:r>
            <a:br>
              <a:rPr lang="en-US" sz="1600" b="0" cap="none" dirty="0"/>
            </a:br>
            <a:br>
              <a:rPr lang="en-US" sz="1600" b="0" cap="none" dirty="0"/>
            </a:br>
            <a:r>
              <a:rPr lang="en-US" sz="1600" b="0" cap="none" dirty="0"/>
              <a:t>- </a:t>
            </a:r>
            <a:r>
              <a:rPr lang="en-US" sz="1600" b="0" cap="none" dirty="0" err="1"/>
              <a:t>Plăți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și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servicii</a:t>
            </a:r>
            <a:r>
              <a:rPr lang="en-US" sz="1600" b="0" cap="none" dirty="0"/>
              <a:t> </a:t>
            </a:r>
            <a:r>
              <a:rPr lang="it-IT" sz="1600" b="0" cap="none" dirty="0"/>
              <a:t>financiare (cel mai mare segment).</a:t>
            </a:r>
            <a:br>
              <a:rPr lang="it-IT" sz="1600" b="0" cap="none" dirty="0"/>
            </a:br>
            <a:br>
              <a:rPr lang="it-IT" sz="1600" b="0" cap="none" dirty="0"/>
            </a:br>
            <a:r>
              <a:rPr lang="it-IT" sz="1600" b="0" cap="none" dirty="0"/>
              <a:t>- </a:t>
            </a:r>
            <a:r>
              <a:rPr lang="en-US" sz="1600" b="0" cap="none" dirty="0" err="1"/>
              <a:t>Tehnologie</a:t>
            </a:r>
            <a:r>
              <a:rPr lang="en-US" sz="1600" b="0" cap="none" dirty="0"/>
              <a:t>, media </a:t>
            </a:r>
            <a:r>
              <a:rPr lang="en-US" sz="1600" b="0" cap="none" dirty="0" err="1"/>
              <a:t>și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telecomunicații</a:t>
            </a:r>
            <a:r>
              <a:rPr lang="en-US" sz="1600" b="0" cap="none" dirty="0"/>
              <a:t> (TMT).</a:t>
            </a:r>
            <a:br>
              <a:rPr lang="en-US" sz="1600" b="0" cap="none" dirty="0"/>
            </a:br>
            <a:br>
              <a:rPr lang="en-US" sz="1600" b="0" cap="none" dirty="0"/>
            </a:br>
            <a:r>
              <a:rPr lang="en-US" sz="1600" b="0" cap="none" dirty="0"/>
              <a:t>- Retail </a:t>
            </a:r>
            <a:r>
              <a:rPr lang="en-US" sz="1600" b="0" cap="none" dirty="0" err="1"/>
              <a:t>și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logistică</a:t>
            </a:r>
            <a:r>
              <a:rPr lang="en-US" sz="1600" b="0" cap="none" dirty="0"/>
              <a:t>.</a:t>
            </a:r>
            <a:br>
              <a:rPr lang="en-US" sz="1600" b="0" cap="none" dirty="0"/>
            </a:br>
            <a:br>
              <a:rPr lang="en-US" sz="1600" b="0" cap="none" dirty="0"/>
            </a:br>
            <a:r>
              <a:rPr lang="en-US" sz="1600" b="0" cap="none" dirty="0"/>
              <a:t>- </a:t>
            </a:r>
            <a:r>
              <a:rPr lang="en-US" sz="1600" b="0" cap="none" dirty="0" err="1"/>
              <a:t>Sănătate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și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mobilitate</a:t>
            </a:r>
            <a:r>
              <a:rPr lang="en-US" sz="1600" b="0" cap="none" dirty="0"/>
              <a:t>.</a:t>
            </a:r>
            <a:br>
              <a:rPr lang="en-US" sz="1600" b="0" cap="none" dirty="0"/>
            </a:br>
            <a:br>
              <a:rPr lang="en-US" sz="1600" b="0" cap="none" dirty="0"/>
            </a:br>
            <a:br>
              <a:rPr lang="en-US" sz="1600" b="0" cap="none" dirty="0"/>
            </a:br>
            <a:r>
              <a:rPr lang="en-US" sz="1600" b="0" cap="none" dirty="0" err="1"/>
              <a:t>Concurența</a:t>
            </a:r>
            <a:r>
              <a:rPr lang="en-US" sz="1600" b="0" cap="none" dirty="0"/>
              <a:t>: se </a:t>
            </a:r>
            <a:r>
              <a:rPr lang="en-US" sz="1600" b="0" cap="none" dirty="0" err="1"/>
              <a:t>luptă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pentru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proiecte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și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angajați</a:t>
            </a:r>
            <a:r>
              <a:rPr lang="en-US" sz="1600" b="0" cap="none" dirty="0"/>
              <a:t> cu: </a:t>
            </a:r>
            <a:r>
              <a:rPr lang="en-US" sz="1600" b="0" cap="none" dirty="0" err="1"/>
              <a:t>luxoft</a:t>
            </a:r>
            <a:r>
              <a:rPr lang="en-US" sz="1600" b="0" cap="none" dirty="0"/>
              <a:t> (pe </a:t>
            </a:r>
            <a:r>
              <a:rPr lang="en-US" sz="1600" b="0" cap="none" dirty="0" err="1"/>
              <a:t>financiar</a:t>
            </a:r>
            <a:r>
              <a:rPr lang="en-US" sz="1600" b="0" cap="none" dirty="0"/>
              <a:t>/auto), </a:t>
            </a:r>
            <a:r>
              <a:rPr lang="en-US" sz="1600" b="0" cap="none" dirty="0" err="1"/>
              <a:t>softserve</a:t>
            </a:r>
            <a:r>
              <a:rPr lang="en-US" sz="1600" b="0" cap="none" dirty="0"/>
              <a:t> (pe </a:t>
            </a:r>
            <a:r>
              <a:rPr lang="en-US" sz="1600" b="0" cap="none" dirty="0" err="1"/>
              <a:t>digitalizare</a:t>
            </a:r>
            <a:r>
              <a:rPr lang="en-US" sz="1600" b="0" cap="none" dirty="0"/>
              <a:t>) </a:t>
            </a:r>
            <a:r>
              <a:rPr lang="en-US" sz="1600" b="0" cap="none" dirty="0" err="1"/>
              <a:t>și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stefanini</a:t>
            </a:r>
            <a:r>
              <a:rPr lang="en-US" sz="1600" b="0" cap="none" dirty="0"/>
              <a:t> (pe </a:t>
            </a:r>
            <a:r>
              <a:rPr lang="en-US" sz="1600" b="0" cap="none" dirty="0" err="1"/>
              <a:t>suport</a:t>
            </a:r>
            <a:r>
              <a:rPr lang="en-US" sz="1600" b="0" cap="none" dirty="0"/>
              <a:t> </a:t>
            </a:r>
            <a:r>
              <a:rPr lang="en-US" sz="1600" b="0" cap="none" dirty="0" err="1"/>
              <a:t>tehnic</a:t>
            </a:r>
            <a:r>
              <a:rPr lang="en-US" sz="1600" b="0" cap="none" dirty="0"/>
              <a:t>).</a:t>
            </a:r>
            <a:endParaRPr lang="en-US" sz="1600" b="0" dirty="0"/>
          </a:p>
        </p:txBody>
      </p:sp>
      <p:pic>
        <p:nvPicPr>
          <p:cNvPr id="4102" name="Picture 6" descr="Our terms and conditions l Endava">
            <a:extLst>
              <a:ext uri="{FF2B5EF4-FFF2-40B4-BE49-F238E27FC236}">
                <a16:creationId xmlns:a16="http://schemas.microsoft.com/office/drawing/2014/main" id="{01E219EC-34A3-D0A1-9841-736E3BCCF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6966199" y="20053"/>
            <a:ext cx="5225801" cy="310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Tech career at Endava">
            <a:extLst>
              <a:ext uri="{FF2B5EF4-FFF2-40B4-BE49-F238E27FC236}">
                <a16:creationId xmlns:a16="http://schemas.microsoft.com/office/drawing/2014/main" id="{3C9C1977-83EE-047D-1A77-3A40BE0FA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lasticWrap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3425" y="1878224"/>
            <a:ext cx="5225800" cy="40886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Badge 3 with solid fill">
            <a:extLst>
              <a:ext uri="{FF2B5EF4-FFF2-40B4-BE49-F238E27FC236}">
                <a16:creationId xmlns:a16="http://schemas.microsoft.com/office/drawing/2014/main" id="{0C26500D-188B-7261-F492-CC3F226A69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003" y="3416968"/>
            <a:ext cx="350762" cy="350762"/>
          </a:xfrm>
          <a:prstGeom prst="rect">
            <a:avLst/>
          </a:prstGeom>
        </p:spPr>
      </p:pic>
      <p:pic>
        <p:nvPicPr>
          <p:cNvPr id="12" name="Graphic 11" descr="Badge 4 with solid fill">
            <a:extLst>
              <a:ext uri="{FF2B5EF4-FFF2-40B4-BE49-F238E27FC236}">
                <a16:creationId xmlns:a16="http://schemas.microsoft.com/office/drawing/2014/main" id="{F9A7DF4B-5525-BC3D-D5F0-35321F06D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003" y="3894385"/>
            <a:ext cx="350762" cy="350762"/>
          </a:xfrm>
          <a:prstGeom prst="rect">
            <a:avLst/>
          </a:prstGeom>
        </p:spPr>
      </p:pic>
      <p:pic>
        <p:nvPicPr>
          <p:cNvPr id="14" name="Graphic 13" descr="Badge 1 with solid fill">
            <a:extLst>
              <a:ext uri="{FF2B5EF4-FFF2-40B4-BE49-F238E27FC236}">
                <a16:creationId xmlns:a16="http://schemas.microsoft.com/office/drawing/2014/main" id="{05C8C3C5-4453-6581-7899-A52CAB7E2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024" y="2612853"/>
            <a:ext cx="350762" cy="350762"/>
          </a:xfrm>
          <a:prstGeom prst="rect">
            <a:avLst/>
          </a:prstGeom>
        </p:spPr>
      </p:pic>
      <p:pic>
        <p:nvPicPr>
          <p:cNvPr id="16" name="Graphic 15" descr="Badge with solid fill">
            <a:extLst>
              <a:ext uri="{FF2B5EF4-FFF2-40B4-BE49-F238E27FC236}">
                <a16:creationId xmlns:a16="http://schemas.microsoft.com/office/drawing/2014/main" id="{50AFC504-AC48-03E3-22DF-DE51D77C0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175" y="3038357"/>
            <a:ext cx="378611" cy="37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9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ndava reînnoiește contractul de închiriere în cadrul United Business  Center din Cluj-Napoca - Forbes.ro">
            <a:extLst>
              <a:ext uri="{FF2B5EF4-FFF2-40B4-BE49-F238E27FC236}">
                <a16:creationId xmlns:a16="http://schemas.microsoft.com/office/drawing/2014/main" id="{D2119ED1-A7E6-E1DD-5327-AA245DC5F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56" b="14874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694E1A-8262-C8A5-8864-F85E31ACC8D1}"/>
              </a:ext>
            </a:extLst>
          </p:cNvPr>
          <p:cNvSpPr txBox="1"/>
          <p:nvPr/>
        </p:nvSpPr>
        <p:spPr>
          <a:xfrm>
            <a:off x="685800" y="443567"/>
            <a:ext cx="10820400" cy="59708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000" b="1" u="sng" dirty="0" err="1">
                <a:solidFill>
                  <a:schemeClr val="accent2"/>
                </a:solidFill>
              </a:rPr>
              <a:t>Strategia</a:t>
            </a:r>
            <a:r>
              <a:rPr lang="en-US" sz="4000" b="1" u="sng" dirty="0">
                <a:solidFill>
                  <a:schemeClr val="accent2"/>
                </a:solidFill>
              </a:rPr>
              <a:t> de </a:t>
            </a:r>
            <a:r>
              <a:rPr lang="en-US" sz="4000" b="1" u="sng" dirty="0" err="1">
                <a:solidFill>
                  <a:schemeClr val="accent2"/>
                </a:solidFill>
              </a:rPr>
              <a:t>Piață</a:t>
            </a:r>
            <a:r>
              <a:rPr lang="en-US" sz="4000" b="1" u="sng" dirty="0">
                <a:solidFill>
                  <a:schemeClr val="accent2"/>
                </a:solidFill>
              </a:rPr>
              <a:t> (STP)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/>
          </a:p>
          <a:p>
            <a:r>
              <a:rPr lang="en-US" sz="2400" b="1" dirty="0" err="1"/>
              <a:t>Segmentare</a:t>
            </a:r>
            <a:r>
              <a:rPr lang="en-US" sz="2400" b="1" dirty="0"/>
              <a:t>: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Împart</a:t>
            </a:r>
            <a:r>
              <a:rPr lang="en-US" sz="2400" dirty="0"/>
              <a:t> </a:t>
            </a:r>
            <a:r>
              <a:rPr lang="en-US" sz="2400" dirty="0" err="1"/>
              <a:t>piața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funcție</a:t>
            </a:r>
            <a:r>
              <a:rPr lang="en-US" sz="2400" dirty="0"/>
              <a:t> de </a:t>
            </a:r>
            <a:r>
              <a:rPr lang="en-US" sz="2400" dirty="0" err="1"/>
              <a:t>domeniul</a:t>
            </a:r>
            <a:r>
              <a:rPr lang="en-US" sz="2400" dirty="0"/>
              <a:t> de </a:t>
            </a:r>
            <a:r>
              <a:rPr lang="en-US" sz="2400" dirty="0" err="1"/>
              <a:t>activitate</a:t>
            </a:r>
            <a:r>
              <a:rPr lang="en-US" sz="2400" dirty="0"/>
              <a:t> al </a:t>
            </a:r>
            <a:r>
              <a:rPr lang="en-US" sz="2400" dirty="0" err="1"/>
              <a:t>clienților</a:t>
            </a:r>
            <a:r>
              <a:rPr lang="en-US" sz="2400" dirty="0"/>
              <a:t> (</a:t>
            </a:r>
            <a:r>
              <a:rPr lang="en-US" sz="2400" dirty="0" err="1"/>
              <a:t>Financiar</a:t>
            </a:r>
            <a:r>
              <a:rPr lang="en-US" sz="2400" dirty="0"/>
              <a:t>, Retail, </a:t>
            </a:r>
            <a:r>
              <a:rPr lang="en-US" sz="2400" dirty="0" err="1"/>
              <a:t>Sănătate</a:t>
            </a:r>
            <a:r>
              <a:rPr lang="en-US" sz="2400" dirty="0"/>
              <a:t> etc.).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 err="1"/>
              <a:t>Țintire</a:t>
            </a:r>
            <a:r>
              <a:rPr lang="en-US" sz="2400" b="1" dirty="0"/>
              <a:t> (Targeting):</a:t>
            </a:r>
            <a:r>
              <a:rPr lang="en-US" sz="2400" dirty="0"/>
              <a:t> </a:t>
            </a:r>
          </a:p>
          <a:p>
            <a:r>
              <a:rPr lang="en-US" sz="2400" dirty="0"/>
              <a:t>Se </a:t>
            </a:r>
            <a:r>
              <a:rPr lang="en-US" sz="2400" dirty="0" err="1"/>
              <a:t>concentrează</a:t>
            </a:r>
            <a:r>
              <a:rPr lang="en-US" sz="2400" dirty="0"/>
              <a:t> </a:t>
            </a:r>
            <a:r>
              <a:rPr lang="en-US" sz="2400" dirty="0" err="1"/>
              <a:t>doar</a:t>
            </a:r>
            <a:r>
              <a:rPr lang="en-US" sz="2400" dirty="0"/>
              <a:t> pe </a:t>
            </a:r>
            <a:r>
              <a:rPr lang="en-US" sz="2400" dirty="0" err="1"/>
              <a:t>companii</a:t>
            </a:r>
            <a:r>
              <a:rPr lang="en-US" sz="2400" dirty="0"/>
              <a:t> </a:t>
            </a:r>
            <a:r>
              <a:rPr lang="en-US" sz="2400" dirty="0" err="1"/>
              <a:t>multinaționale</a:t>
            </a:r>
            <a:r>
              <a:rPr lang="en-US" sz="2400" dirty="0"/>
              <a:t> </a:t>
            </a:r>
            <a:r>
              <a:rPr lang="en-US" sz="2400" dirty="0" err="1"/>
              <a:t>mari</a:t>
            </a:r>
            <a:r>
              <a:rPr lang="en-US" sz="2400" dirty="0"/>
              <a:t> care au </a:t>
            </a:r>
            <a:r>
              <a:rPr lang="en-US" sz="2400" dirty="0" err="1"/>
              <a:t>nevoie</a:t>
            </a:r>
            <a:r>
              <a:rPr lang="en-US" sz="2400" dirty="0"/>
              <a:t> de </a:t>
            </a:r>
            <a:r>
              <a:rPr lang="en-US" sz="2400" dirty="0" err="1"/>
              <a:t>soluții</a:t>
            </a:r>
            <a:r>
              <a:rPr lang="en-US" sz="2400" dirty="0"/>
              <a:t> </a:t>
            </a:r>
            <a:r>
              <a:rPr lang="en-US" sz="2400" dirty="0" err="1"/>
              <a:t>complexe</a:t>
            </a:r>
            <a:r>
              <a:rPr lang="en-US" sz="2400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 err="1"/>
              <a:t>Poziționare</a:t>
            </a:r>
            <a:r>
              <a:rPr lang="en-US" sz="2400" b="1" dirty="0"/>
              <a:t>:</a:t>
            </a:r>
          </a:p>
          <a:p>
            <a:r>
              <a:rPr lang="en-US" sz="2400" dirty="0"/>
              <a:t> Endava se </a:t>
            </a:r>
            <a:r>
              <a:rPr lang="en-US" sz="2400" dirty="0" err="1"/>
              <a:t>poziționează</a:t>
            </a:r>
            <a:r>
              <a:rPr lang="en-US" sz="2400" dirty="0"/>
              <a:t> ca un </a:t>
            </a:r>
            <a:r>
              <a:rPr lang="en-US" sz="2400" b="1" dirty="0" err="1"/>
              <a:t>lider</a:t>
            </a:r>
            <a:r>
              <a:rPr lang="en-US" sz="2400" b="1" dirty="0"/>
              <a:t> </a:t>
            </a:r>
            <a:r>
              <a:rPr lang="en-US" sz="2400" b="1" dirty="0" err="1"/>
              <a:t>în</a:t>
            </a:r>
            <a:r>
              <a:rPr lang="en-US" sz="2400" b="1" dirty="0"/>
              <a:t> </a:t>
            </a:r>
            <a:r>
              <a:rPr lang="en-US" sz="2400" b="1" dirty="0" err="1"/>
              <a:t>inovație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o </a:t>
            </a:r>
            <a:r>
              <a:rPr lang="en-US" sz="2400" dirty="0" err="1"/>
              <a:t>companie</a:t>
            </a:r>
            <a:r>
              <a:rPr lang="en-US" sz="2400" dirty="0"/>
              <a:t> </a:t>
            </a:r>
            <a:r>
              <a:rPr lang="en-US" sz="2400" dirty="0" err="1"/>
              <a:t>foarte</a:t>
            </a:r>
            <a:r>
              <a:rPr lang="en-US" sz="2400" dirty="0"/>
              <a:t> </a:t>
            </a:r>
            <a:r>
              <a:rPr lang="en-US" sz="2400" dirty="0" err="1"/>
              <a:t>sigură</a:t>
            </a:r>
            <a:r>
              <a:rPr lang="en-US" sz="2400" dirty="0"/>
              <a:t> (</a:t>
            </a:r>
            <a:r>
              <a:rPr lang="en-US" sz="2400" dirty="0" err="1"/>
              <a:t>stabilitate</a:t>
            </a:r>
            <a:r>
              <a:rPr lang="en-US" sz="2400" dirty="0"/>
              <a:t> </a:t>
            </a:r>
            <a:r>
              <a:rPr lang="en-US" sz="2400" dirty="0" err="1"/>
              <a:t>financiară</a:t>
            </a:r>
            <a:r>
              <a:rPr lang="en-US" sz="2400" dirty="0"/>
              <a:t> cu profit de 188 mil. RON).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490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Title 1">
            <a:extLst>
              <a:ext uri="{FF2B5EF4-FFF2-40B4-BE49-F238E27FC236}">
                <a16:creationId xmlns:a16="http://schemas.microsoft.com/office/drawing/2014/main" id="{C5B86213-29C8-1F90-8055-302E3E68C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0567" y="1036320"/>
            <a:ext cx="4023359" cy="4968240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Analiza SWOT</a:t>
            </a:r>
            <a:br>
              <a:rPr lang="en-US" dirty="0"/>
            </a:br>
            <a:br>
              <a:rPr lang="en-US" dirty="0"/>
            </a:br>
            <a:r>
              <a:rPr lang="en-US" sz="2000" b="0" cap="none" dirty="0" err="1"/>
              <a:t>Puncte</a:t>
            </a:r>
            <a:r>
              <a:rPr lang="en-US" sz="2000" b="0" cap="none" dirty="0"/>
              <a:t> forte: brand global de </a:t>
            </a:r>
            <a:r>
              <a:rPr lang="en-US" sz="2000" b="0" cap="none" dirty="0" err="1"/>
              <a:t>prestigiu</a:t>
            </a:r>
            <a:r>
              <a:rPr lang="en-US" sz="2000" b="0" cap="none" dirty="0"/>
              <a:t> (</a:t>
            </a:r>
            <a:r>
              <a:rPr lang="en-US" sz="2000" b="0" cap="none" dirty="0" err="1"/>
              <a:t>listat</a:t>
            </a:r>
            <a:r>
              <a:rPr lang="en-US" sz="2000" b="0" cap="none" dirty="0"/>
              <a:t> la bursa NYSE), </a:t>
            </a:r>
            <a:r>
              <a:rPr lang="en-US" sz="2000" b="0" cap="none" dirty="0" err="1"/>
              <a:t>profituri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mari</a:t>
            </a:r>
            <a:r>
              <a:rPr lang="en-US" sz="2000" b="0" cap="none" dirty="0"/>
              <a:t>, </a:t>
            </a:r>
            <a:r>
              <a:rPr lang="en-US" sz="2000" b="0" cap="none" dirty="0" err="1"/>
              <a:t>mulți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angajați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calificați</a:t>
            </a:r>
            <a:r>
              <a:rPr lang="en-US" sz="2000" b="0" cap="none" dirty="0"/>
              <a:t>.</a:t>
            </a:r>
            <a:br>
              <a:rPr lang="en-US" sz="2000" b="0" cap="none" dirty="0"/>
            </a:br>
            <a:br>
              <a:rPr lang="en-US" sz="2000" b="0" cap="none" dirty="0"/>
            </a:br>
            <a:r>
              <a:rPr lang="en-US" sz="2000" b="0" cap="none" dirty="0" err="1"/>
              <a:t>Puncte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slabe</a:t>
            </a:r>
            <a:r>
              <a:rPr lang="en-US" sz="2000" b="0" cap="none" dirty="0"/>
              <a:t>: </a:t>
            </a:r>
            <a:r>
              <a:rPr lang="en-US" sz="2000" b="0" cap="none" dirty="0" err="1"/>
              <a:t>prețuri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foarte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mari</a:t>
            </a:r>
            <a:r>
              <a:rPr lang="en-US" sz="2000" b="0" cap="none" dirty="0"/>
              <a:t> care pot </a:t>
            </a:r>
            <a:r>
              <a:rPr lang="en-US" sz="2000" b="0" cap="none" dirty="0" err="1"/>
              <a:t>alunga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clienții</a:t>
            </a:r>
            <a:r>
              <a:rPr lang="en-US" sz="2000" b="0" cap="none" dirty="0"/>
              <a:t> cu </a:t>
            </a:r>
            <a:r>
              <a:rPr lang="en-US" sz="2000" b="0" cap="none" dirty="0" err="1"/>
              <a:t>bugete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mici</a:t>
            </a:r>
            <a:r>
              <a:rPr lang="en-US" sz="2000" b="0" cap="none" dirty="0"/>
              <a:t>; </a:t>
            </a:r>
            <a:r>
              <a:rPr lang="en-US" sz="2000" b="0" cap="none" dirty="0" err="1"/>
              <a:t>dependență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prea</a:t>
            </a:r>
            <a:r>
              <a:rPr lang="en-US" sz="2000" b="0" cap="none" dirty="0"/>
              <a:t> mare de </a:t>
            </a:r>
            <a:r>
              <a:rPr lang="en-US" sz="2000" b="0" cap="none" dirty="0" err="1"/>
              <a:t>domeniul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plăților</a:t>
            </a:r>
            <a:r>
              <a:rPr lang="en-US" sz="2000" b="0" cap="none" dirty="0"/>
              <a:t>.</a:t>
            </a:r>
            <a:br>
              <a:rPr lang="en-US" sz="2000" b="0" cap="none" dirty="0"/>
            </a:br>
            <a:br>
              <a:rPr lang="en-US" sz="2000" b="0" cap="none" dirty="0"/>
            </a:br>
            <a:r>
              <a:rPr lang="en-US" sz="2000" b="0" cap="none" dirty="0" err="1"/>
              <a:t>Oportunități</a:t>
            </a:r>
            <a:r>
              <a:rPr lang="en-US" sz="2000" b="0" cap="none" dirty="0"/>
              <a:t>: </a:t>
            </a:r>
            <a:r>
              <a:rPr lang="en-US" sz="2000" b="0" cap="none" dirty="0" err="1"/>
              <a:t>toate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firmele</a:t>
            </a:r>
            <a:r>
              <a:rPr lang="en-US" sz="2000" b="0" cap="none" dirty="0"/>
              <a:t> din </a:t>
            </a:r>
            <a:r>
              <a:rPr lang="en-US" sz="2000" b="0" cap="none" dirty="0" err="1"/>
              <a:t>lume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vor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acum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să</a:t>
            </a:r>
            <a:r>
              <a:rPr lang="en-US" sz="2000" b="0" cap="none" dirty="0"/>
              <a:t> se </a:t>
            </a:r>
            <a:r>
              <a:rPr lang="en-US" sz="2000" b="0" cap="none" dirty="0" err="1"/>
              <a:t>digitalizeze</a:t>
            </a:r>
            <a:r>
              <a:rPr lang="en-US" sz="2000" b="0" cap="none" dirty="0"/>
              <a:t>; tot </a:t>
            </a:r>
            <a:r>
              <a:rPr lang="en-US" sz="2000" b="0" cap="none" dirty="0" err="1"/>
              <a:t>mai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mulți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tineri</a:t>
            </a:r>
            <a:r>
              <a:rPr lang="en-US" sz="2000" b="0" cap="none" dirty="0"/>
              <a:t> din </a:t>
            </a:r>
            <a:r>
              <a:rPr lang="en-US" sz="2000" b="0" cap="none" dirty="0" err="1"/>
              <a:t>românia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aleg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facultățile</a:t>
            </a:r>
            <a:r>
              <a:rPr lang="en-US" sz="2000" b="0" cap="none" dirty="0"/>
              <a:t> de </a:t>
            </a:r>
            <a:r>
              <a:rPr lang="en-US" sz="2000" b="0" cap="none" dirty="0" err="1"/>
              <a:t>profil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tehnic</a:t>
            </a:r>
            <a:r>
              <a:rPr lang="en-US" sz="2000" b="0" cap="none" dirty="0"/>
              <a:t>.</a:t>
            </a:r>
            <a:br>
              <a:rPr lang="en-US" sz="2000" b="0" cap="none" dirty="0"/>
            </a:br>
            <a:br>
              <a:rPr lang="en-US" sz="2000" b="0" cap="none" dirty="0"/>
            </a:br>
            <a:r>
              <a:rPr lang="en-US" sz="2000" b="0" cap="none" dirty="0" err="1"/>
              <a:t>Amenințări</a:t>
            </a:r>
            <a:r>
              <a:rPr lang="en-US" sz="2000" b="0" cap="none" dirty="0"/>
              <a:t>: </a:t>
            </a:r>
            <a:r>
              <a:rPr lang="en-US" sz="2000" b="0" cap="none" dirty="0" err="1"/>
              <a:t>concurență</a:t>
            </a:r>
            <a:r>
              <a:rPr lang="en-US" sz="2000" b="0" cap="none" dirty="0"/>
              <a:t> mare </a:t>
            </a:r>
            <a:r>
              <a:rPr lang="en-US" sz="2000" b="0" cap="none" dirty="0" err="1"/>
              <a:t>pentru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talente</a:t>
            </a:r>
            <a:r>
              <a:rPr lang="en-US" sz="2000" b="0" cap="none" dirty="0"/>
              <a:t>; </a:t>
            </a:r>
            <a:r>
              <a:rPr lang="en-US" sz="2000" b="0" cap="none" dirty="0" err="1"/>
              <a:t>legile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fiscale</a:t>
            </a:r>
            <a:r>
              <a:rPr lang="en-US" sz="2000" b="0" cap="none" dirty="0"/>
              <a:t> din </a:t>
            </a:r>
            <a:r>
              <a:rPr lang="en-US" sz="2000" b="0" cap="none" dirty="0" err="1"/>
              <a:t>românia</a:t>
            </a:r>
            <a:r>
              <a:rPr lang="en-US" sz="2000" b="0" cap="none" dirty="0"/>
              <a:t> care se </a:t>
            </a:r>
            <a:r>
              <a:rPr lang="en-US" sz="2000" b="0" cap="none" dirty="0" err="1"/>
              <a:t>schimbă</a:t>
            </a:r>
            <a:r>
              <a:rPr lang="en-US" sz="2000" b="0" cap="none" dirty="0"/>
              <a:t> des </a:t>
            </a:r>
            <a:r>
              <a:rPr lang="en-US" sz="2000" b="0" cap="none" dirty="0" err="1"/>
              <a:t>și</a:t>
            </a:r>
            <a:r>
              <a:rPr lang="en-US" sz="2000" b="0" cap="none" dirty="0"/>
              <a:t> pot </a:t>
            </a:r>
            <a:r>
              <a:rPr lang="en-US" sz="2000" b="0" cap="none" dirty="0" err="1"/>
              <a:t>afecta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profitul</a:t>
            </a:r>
            <a:r>
              <a:rPr lang="en-US" sz="2000" b="0" cap="none" dirty="0"/>
              <a:t>.</a:t>
            </a:r>
            <a:br>
              <a:rPr lang="en-US" sz="2000" b="0" cap="none" dirty="0"/>
            </a:br>
            <a:endParaRPr lang="en-US" sz="2000" b="0" dirty="0"/>
          </a:p>
        </p:txBody>
      </p:sp>
      <p:pic>
        <p:nvPicPr>
          <p:cNvPr id="6146" name="Picture 2" descr="Endava trece definitiv la sistemul de muncă hibrid">
            <a:extLst>
              <a:ext uri="{FF2B5EF4-FFF2-40B4-BE49-F238E27FC236}">
                <a16:creationId xmlns:a16="http://schemas.microsoft.com/office/drawing/2014/main" id="{07113C05-0AAA-73EC-98B6-7AD54234E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" r="2521"/>
          <a:stretch>
            <a:fillRect/>
          </a:stretch>
        </p:blipFill>
        <p:spPr bwMode="auto">
          <a:xfrm>
            <a:off x="-228600" y="1036320"/>
            <a:ext cx="7885606" cy="48768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3" name="Content Placeholder 3">
            <a:extLst>
              <a:ext uri="{FF2B5EF4-FFF2-40B4-BE49-F238E27FC236}">
                <a16:creationId xmlns:a16="http://schemas.microsoft.com/office/drawing/2014/main" id="{D07685D8-3F67-AB34-421C-1D2ADFA630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 flipV="1">
            <a:off x="8883147" y="6248399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73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3" name="Title 1">
            <a:extLst>
              <a:ext uri="{FF2B5EF4-FFF2-40B4-BE49-F238E27FC236}">
                <a16:creationId xmlns:a16="http://schemas.microsoft.com/office/drawing/2014/main" id="{C401EDE9-D257-BFF4-D356-A253A004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10" y="533400"/>
            <a:ext cx="3575581" cy="5867400"/>
          </a:xfrm>
        </p:spPr>
        <p:txBody>
          <a:bodyPr>
            <a:normAutofit fontScale="90000"/>
          </a:bodyPr>
          <a:lstStyle/>
          <a:p>
            <a:r>
              <a:rPr lang="en-US" sz="3100" dirty="0" err="1"/>
              <a:t>Mixul</a:t>
            </a:r>
            <a:r>
              <a:rPr lang="en-US" sz="3100" dirty="0"/>
              <a:t> de Marketing - </a:t>
            </a:r>
            <a:r>
              <a:rPr lang="en-US" sz="3100" dirty="0" err="1"/>
              <a:t>Produs</a:t>
            </a:r>
            <a:r>
              <a:rPr lang="en-US" sz="3100" dirty="0"/>
              <a:t> </a:t>
            </a:r>
            <a:r>
              <a:rPr lang="en-US" sz="3100" dirty="0" err="1"/>
              <a:t>și</a:t>
            </a:r>
            <a:r>
              <a:rPr lang="en-US" sz="3100" dirty="0"/>
              <a:t> </a:t>
            </a:r>
            <a:r>
              <a:rPr lang="en-US" sz="3100" dirty="0" err="1"/>
              <a:t>Preț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b="0" cap="none" dirty="0" err="1"/>
              <a:t>Politica</a:t>
            </a:r>
            <a:r>
              <a:rPr lang="en-US" sz="2000" b="0" cap="none" dirty="0"/>
              <a:t> de </a:t>
            </a:r>
            <a:r>
              <a:rPr lang="en-US" sz="2000" b="0" cap="none" dirty="0" err="1"/>
              <a:t>produs</a:t>
            </a:r>
            <a:r>
              <a:rPr lang="en-US" sz="2000" b="0" cap="none" dirty="0"/>
              <a:t>: "</a:t>
            </a:r>
            <a:r>
              <a:rPr lang="en-US" sz="2000" b="0" cap="none" dirty="0" err="1"/>
              <a:t>produsul</a:t>
            </a:r>
            <a:r>
              <a:rPr lang="en-US" sz="2000" b="0" cap="none" dirty="0"/>
              <a:t>" lor </a:t>
            </a:r>
            <a:r>
              <a:rPr lang="en-US" sz="2000" b="0" cap="none" dirty="0" err="1"/>
              <a:t>este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expertiza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tehnică</a:t>
            </a:r>
            <a:r>
              <a:rPr lang="en-US" sz="2000" b="0" cap="none" dirty="0"/>
              <a:t>. </a:t>
            </a:r>
            <a:r>
              <a:rPr lang="en-US" sz="2000" b="0" cap="none" dirty="0" err="1"/>
              <a:t>Oferă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strategie</a:t>
            </a:r>
            <a:r>
              <a:rPr lang="en-US" sz="2000" b="0" cap="none" dirty="0"/>
              <a:t>, </a:t>
            </a:r>
            <a:r>
              <a:rPr lang="en-US" sz="2000" b="0" cap="none" dirty="0" err="1"/>
              <a:t>scriu</a:t>
            </a:r>
            <a:r>
              <a:rPr lang="en-US" sz="2000" b="0" cap="none" dirty="0"/>
              <a:t> cod (software </a:t>
            </a:r>
            <a:r>
              <a:rPr lang="en-US" sz="2000" b="0" cap="none" dirty="0" err="1"/>
              <a:t>customizat</a:t>
            </a:r>
            <a:r>
              <a:rPr lang="en-US" sz="2000" b="0" cap="none" dirty="0"/>
              <a:t>) </a:t>
            </a:r>
            <a:r>
              <a:rPr lang="en-US" sz="2000" b="0" cap="none" dirty="0" err="1"/>
              <a:t>și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testează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aplicațiile</a:t>
            </a:r>
            <a:r>
              <a:rPr lang="en-US" sz="2000" b="0" cap="none" dirty="0"/>
              <a:t> ca </a:t>
            </a:r>
            <a:r>
              <a:rPr lang="en-US" sz="2000" b="0" cap="none" dirty="0" err="1"/>
              <a:t>să</a:t>
            </a:r>
            <a:r>
              <a:rPr lang="en-US" sz="2000" b="0" cap="none" dirty="0"/>
              <a:t> nu </a:t>
            </a:r>
            <a:r>
              <a:rPr lang="en-US" sz="2000" b="0" cap="none" dirty="0" err="1"/>
              <a:t>aibă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erori</a:t>
            </a:r>
            <a:r>
              <a:rPr lang="en-US" sz="2000" b="0" cap="none" dirty="0"/>
              <a:t>.</a:t>
            </a:r>
            <a:br>
              <a:rPr lang="en-US" sz="2000" b="0" cap="none" dirty="0"/>
            </a:br>
            <a:r>
              <a:rPr lang="en-US" sz="2000" b="0" cap="none" dirty="0" err="1"/>
              <a:t>Politica</a:t>
            </a:r>
            <a:r>
              <a:rPr lang="en-US" sz="2000" b="0" cap="none" dirty="0"/>
              <a:t> de </a:t>
            </a:r>
            <a:r>
              <a:rPr lang="en-US" sz="2000" b="0" cap="none" dirty="0" err="1"/>
              <a:t>preț</a:t>
            </a:r>
            <a:r>
              <a:rPr lang="en-US" sz="2000" b="0" cap="none" dirty="0"/>
              <a:t>: </a:t>
            </a:r>
            <a:r>
              <a:rPr lang="en-US" sz="2000" b="0" cap="none" dirty="0" err="1"/>
              <a:t>folosesc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strategia</a:t>
            </a:r>
            <a:r>
              <a:rPr lang="en-US" sz="2000" b="0" cap="none" dirty="0"/>
              <a:t> de "skimming" (</a:t>
            </a:r>
            <a:r>
              <a:rPr lang="en-US" sz="2000" b="0" cap="none" dirty="0" err="1"/>
              <a:t>adică</a:t>
            </a:r>
            <a:r>
              <a:rPr lang="en-US" sz="2000" b="0" cap="none" dirty="0"/>
              <a:t> „</a:t>
            </a:r>
            <a:r>
              <a:rPr lang="en-US" sz="2000" b="0" cap="none" dirty="0" err="1"/>
              <a:t>iau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smântâna</a:t>
            </a:r>
            <a:r>
              <a:rPr lang="en-US" sz="2000" b="0" cap="none" dirty="0"/>
              <a:t>”).</a:t>
            </a:r>
            <a:br>
              <a:rPr lang="en-US" sz="2000" b="0" cap="none" dirty="0"/>
            </a:br>
            <a:r>
              <a:rPr lang="en-US" sz="2000" b="0" cap="none" dirty="0" err="1"/>
              <a:t>Explicație</a:t>
            </a:r>
            <a:r>
              <a:rPr lang="en-US" sz="2000" b="0" cap="none" dirty="0"/>
              <a:t>: </a:t>
            </a:r>
            <a:r>
              <a:rPr lang="en-US" sz="2000" b="0" cap="none" dirty="0" err="1"/>
              <a:t>fixează</a:t>
            </a:r>
            <a:r>
              <a:rPr lang="en-US" sz="2000" b="0" cap="none" dirty="0"/>
              <a:t> un </a:t>
            </a:r>
            <a:r>
              <a:rPr lang="en-US" sz="2000" b="0" cap="none" dirty="0" err="1"/>
              <a:t>preț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ridicat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pentru</a:t>
            </a:r>
            <a:r>
              <a:rPr lang="en-US" sz="2000" b="0" cap="none" dirty="0"/>
              <a:t> a </a:t>
            </a:r>
            <a:r>
              <a:rPr lang="en-US" sz="2000" b="0" cap="none" dirty="0" err="1"/>
              <a:t>atrage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clienții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cei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mai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bogați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și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profitabili</a:t>
            </a:r>
            <a:r>
              <a:rPr lang="en-US" sz="2000" b="0" cap="none" dirty="0"/>
              <a:t>. Sunt </a:t>
            </a:r>
            <a:r>
              <a:rPr lang="en-US" sz="2000" b="0" cap="none" dirty="0" err="1"/>
              <a:t>mai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scumpi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decât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concurența</a:t>
            </a:r>
            <a:r>
              <a:rPr lang="en-US" sz="2000" b="0" cap="none" dirty="0"/>
              <a:t> "low-cost", </a:t>
            </a:r>
            <a:r>
              <a:rPr lang="en-US" sz="2000" b="0" cap="none" dirty="0" err="1"/>
              <a:t>dar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oferă</a:t>
            </a:r>
            <a:r>
              <a:rPr lang="en-US" sz="2000" b="0" cap="none" dirty="0"/>
              <a:t> </a:t>
            </a:r>
            <a:r>
              <a:rPr lang="en-US" sz="2000" b="0" cap="none" dirty="0" err="1"/>
              <a:t>calitate</a:t>
            </a:r>
            <a:r>
              <a:rPr lang="en-US" sz="2000" b="0" cap="none" dirty="0"/>
              <a:t> premium.</a:t>
            </a:r>
            <a:br>
              <a:rPr lang="en-US" sz="2000" b="0" cap="none" dirty="0"/>
            </a:br>
            <a:endParaRPr lang="en-US" sz="2000" b="0" dirty="0"/>
          </a:p>
        </p:txBody>
      </p:sp>
      <p:pic>
        <p:nvPicPr>
          <p:cNvPr id="7174" name="Picture 6" descr="Endava Offices | AMA Design | Tryingtodoart">
            <a:extLst>
              <a:ext uri="{FF2B5EF4-FFF2-40B4-BE49-F238E27FC236}">
                <a16:creationId xmlns:a16="http://schemas.microsoft.com/office/drawing/2014/main" id="{22A34991-78FA-2184-CF9B-762E0904D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84991" y="1474614"/>
            <a:ext cx="6997410" cy="467077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Case Study: Endava, London | Area">
            <a:extLst>
              <a:ext uri="{FF2B5EF4-FFF2-40B4-BE49-F238E27FC236}">
                <a16:creationId xmlns:a16="http://schemas.microsoft.com/office/drawing/2014/main" id="{6DF6826E-F3D7-DD29-4433-C3FE9F4701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Case Study: Endava, London | Area">
            <a:extLst>
              <a:ext uri="{FF2B5EF4-FFF2-40B4-BE49-F238E27FC236}">
                <a16:creationId xmlns:a16="http://schemas.microsoft.com/office/drawing/2014/main" id="{63D27B6F-46E7-4B2F-E27A-8C98E3CA3E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92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Title 1">
            <a:extLst>
              <a:ext uri="{FF2B5EF4-FFF2-40B4-BE49-F238E27FC236}">
                <a16:creationId xmlns:a16="http://schemas.microsoft.com/office/drawing/2014/main" id="{9869AE47-B1DD-054C-5AA5-06D5E69E6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723" y="685800"/>
            <a:ext cx="3892269" cy="327659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Mixul</a:t>
            </a:r>
            <a:r>
              <a:rPr lang="en-US" dirty="0"/>
              <a:t> de Marketing - </a:t>
            </a:r>
            <a:r>
              <a:rPr lang="en-US" dirty="0" err="1"/>
              <a:t>Distribuție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Promovare</a:t>
            </a:r>
            <a:br>
              <a:rPr lang="en-US" dirty="0"/>
            </a:br>
            <a:br>
              <a:rPr lang="en-US" dirty="0"/>
            </a:br>
            <a:r>
              <a:rPr lang="en-US" sz="1800" b="0" cap="none" dirty="0" err="1"/>
              <a:t>Politica</a:t>
            </a:r>
            <a:r>
              <a:rPr lang="en-US" sz="1800" b="0" cap="none" dirty="0"/>
              <a:t> de </a:t>
            </a:r>
            <a:r>
              <a:rPr lang="en-US" sz="1800" b="0" cap="none" dirty="0" err="1"/>
              <a:t>distribuție</a:t>
            </a:r>
            <a:r>
              <a:rPr lang="en-US" sz="1800" b="0" cap="none" dirty="0"/>
              <a:t>: canal direct (</a:t>
            </a:r>
            <a:r>
              <a:rPr lang="en-US" sz="1800" b="0" cap="none" dirty="0" err="1"/>
              <a:t>fără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intermediari</a:t>
            </a:r>
            <a:r>
              <a:rPr lang="en-US" sz="1800" b="0" cap="none" dirty="0"/>
              <a:t>). </a:t>
            </a:r>
            <a:r>
              <a:rPr lang="en-US" sz="1800" b="0" cap="none" dirty="0" err="1"/>
              <a:t>Livrarea</a:t>
            </a:r>
            <a:r>
              <a:rPr lang="en-US" sz="1800" b="0" cap="none" dirty="0"/>
              <a:t> se face digital </a:t>
            </a:r>
            <a:r>
              <a:rPr lang="en-US" sz="1800" b="0" cap="none" dirty="0" err="1"/>
              <a:t>prin</a:t>
            </a:r>
            <a:r>
              <a:rPr lang="en-US" sz="1800" b="0" cap="none" dirty="0"/>
              <a:t> cloud </a:t>
            </a:r>
            <a:r>
              <a:rPr lang="en-US" sz="1800" b="0" cap="none" dirty="0" err="1"/>
              <a:t>și</a:t>
            </a:r>
            <a:r>
              <a:rPr lang="en-US" sz="1800" b="0" cap="none" dirty="0"/>
              <a:t> transfer de cod </a:t>
            </a:r>
            <a:r>
              <a:rPr lang="en-US" sz="1800" b="0" cap="none" dirty="0" err="1"/>
              <a:t>către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serverele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clientului</a:t>
            </a:r>
            <a:r>
              <a:rPr lang="en-US" sz="1800" b="0" cap="none" dirty="0"/>
              <a:t>. Au 10 </a:t>
            </a:r>
            <a:r>
              <a:rPr lang="en-US" sz="1800" b="0" cap="none" dirty="0" err="1"/>
              <a:t>centre</a:t>
            </a:r>
            <a:r>
              <a:rPr lang="en-US" sz="1800" b="0" cap="none" dirty="0"/>
              <a:t> de </a:t>
            </a:r>
            <a:r>
              <a:rPr lang="en-US" sz="1800" b="0" cap="none" dirty="0" err="1"/>
              <a:t>livrare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în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românia</a:t>
            </a:r>
            <a:r>
              <a:rPr lang="en-US" sz="1800" b="0" cap="none" dirty="0"/>
              <a:t>.</a:t>
            </a:r>
            <a:br>
              <a:rPr lang="en-US" sz="1800" b="0" cap="none" dirty="0"/>
            </a:br>
            <a:br>
              <a:rPr lang="en-US" sz="1800" b="0" cap="none" dirty="0"/>
            </a:br>
            <a:r>
              <a:rPr lang="en-US" sz="1800" b="0" cap="none" dirty="0" err="1"/>
              <a:t>Politica</a:t>
            </a:r>
            <a:r>
              <a:rPr lang="en-US" sz="1800" b="0" cap="none" dirty="0"/>
              <a:t> de </a:t>
            </a:r>
            <a:r>
              <a:rPr lang="en-US" sz="1800" b="0" cap="none" dirty="0" err="1"/>
              <a:t>promovare</a:t>
            </a:r>
            <a:r>
              <a:rPr lang="en-US" sz="1800" b="0" cap="none" dirty="0"/>
              <a:t>:</a:t>
            </a:r>
            <a:br>
              <a:rPr lang="en-US" sz="1800" b="0" cap="none" dirty="0"/>
            </a:br>
            <a:r>
              <a:rPr lang="en-US" sz="1800" b="0" cap="none" dirty="0"/>
              <a:t>employer branding: se </a:t>
            </a:r>
            <a:r>
              <a:rPr lang="en-US" sz="1800" b="0" cap="none" dirty="0" err="1"/>
              <a:t>promovează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intens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în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universități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și</a:t>
            </a:r>
            <a:r>
              <a:rPr lang="en-US" sz="1800" b="0" cap="none" dirty="0"/>
              <a:t> pe </a:t>
            </a:r>
            <a:r>
              <a:rPr lang="en-US" sz="1800" b="0" cap="none" dirty="0" err="1"/>
              <a:t>linkedin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pentru</a:t>
            </a:r>
            <a:r>
              <a:rPr lang="en-US" sz="1800" b="0" cap="none" dirty="0"/>
              <a:t> a </a:t>
            </a:r>
            <a:r>
              <a:rPr lang="en-US" sz="1800" b="0" cap="none" dirty="0" err="1"/>
              <a:t>atrage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tineri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buni</a:t>
            </a:r>
            <a:r>
              <a:rPr lang="en-US" sz="1800" b="0" cap="none" dirty="0"/>
              <a:t>.</a:t>
            </a:r>
            <a:br>
              <a:rPr lang="en-US" sz="1800" b="0" cap="none" dirty="0"/>
            </a:br>
            <a:br>
              <a:rPr lang="en-US" sz="1800" b="0" cap="none" dirty="0"/>
            </a:br>
            <a:r>
              <a:rPr lang="en-US" sz="1800" b="0" cap="none" dirty="0" err="1"/>
              <a:t>Relații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publice</a:t>
            </a:r>
            <a:r>
              <a:rPr lang="en-US" sz="1800" b="0" cap="none" dirty="0"/>
              <a:t>: </a:t>
            </a:r>
            <a:r>
              <a:rPr lang="en-US" sz="1800" b="0" cap="none" dirty="0" err="1"/>
              <a:t>participă</a:t>
            </a:r>
            <a:r>
              <a:rPr lang="en-US" sz="1800" b="0" cap="none" dirty="0"/>
              <a:t> la </a:t>
            </a:r>
            <a:r>
              <a:rPr lang="en-US" sz="1800" b="0" cap="none" dirty="0" err="1"/>
              <a:t>conferințe</a:t>
            </a:r>
            <a:r>
              <a:rPr lang="en-US" sz="1800" b="0" cap="none" dirty="0"/>
              <a:t> tech </a:t>
            </a:r>
            <a:r>
              <a:rPr lang="en-US" sz="1800" b="0" cap="none" dirty="0" err="1"/>
              <a:t>mari</a:t>
            </a:r>
            <a:r>
              <a:rPr lang="en-US" sz="1800" b="0" cap="none" dirty="0"/>
              <a:t>.</a:t>
            </a:r>
            <a:br>
              <a:rPr lang="en-US" sz="1800" b="0" cap="none" dirty="0"/>
            </a:br>
            <a:br>
              <a:rPr lang="en-US" sz="1800" b="0" cap="none" dirty="0"/>
            </a:br>
            <a:r>
              <a:rPr lang="en-US" sz="1800" b="0" cap="none" dirty="0" err="1"/>
              <a:t>Recomandări</a:t>
            </a:r>
            <a:r>
              <a:rPr lang="en-US" sz="1800" b="0" cap="none" dirty="0"/>
              <a:t>: </a:t>
            </a:r>
            <a:r>
              <a:rPr lang="en-US" sz="1800" b="0" cap="none" dirty="0" err="1"/>
              <a:t>succesul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proiectelor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vechi</a:t>
            </a:r>
            <a:r>
              <a:rPr lang="en-US" sz="1800" b="0" cap="none" dirty="0"/>
              <a:t> (ex: </a:t>
            </a:r>
            <a:r>
              <a:rPr lang="en-US" sz="1800" b="0" cap="none" dirty="0" err="1"/>
              <a:t>pentru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bănci</a:t>
            </a:r>
            <a:r>
              <a:rPr lang="en-US" sz="1800" b="0" cap="none" dirty="0"/>
              <a:t>) </a:t>
            </a:r>
            <a:r>
              <a:rPr lang="en-US" sz="1800" b="0" cap="none" dirty="0" err="1"/>
              <a:t>este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cea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mai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bună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reclamă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pentru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clienții</a:t>
            </a:r>
            <a:r>
              <a:rPr lang="en-US" sz="1800" b="0" cap="none" dirty="0"/>
              <a:t> </a:t>
            </a:r>
            <a:r>
              <a:rPr lang="en-US" sz="1800" b="0" cap="none" dirty="0" err="1"/>
              <a:t>noi</a:t>
            </a:r>
            <a:r>
              <a:rPr lang="en-US" sz="1800" b="0" cap="none" dirty="0"/>
              <a:t>.</a:t>
            </a:r>
            <a:br>
              <a:rPr lang="en-US" sz="1800" b="0" cap="none" dirty="0"/>
            </a:br>
            <a:endParaRPr lang="en-US" sz="1800" b="0" dirty="0"/>
          </a:p>
        </p:txBody>
      </p:sp>
      <p:pic>
        <p:nvPicPr>
          <p:cNvPr id="8196" name="Picture 4" descr="Our terms and conditions l Endava">
            <a:extLst>
              <a:ext uri="{FF2B5EF4-FFF2-40B4-BE49-F238E27FC236}">
                <a16:creationId xmlns:a16="http://schemas.microsoft.com/office/drawing/2014/main" id="{8197791F-9F58-9CA3-A705-816FEA782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981" y="0"/>
            <a:ext cx="7959019" cy="500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Endava Launches Dava.Rise to Accelerate Innovation">
            <a:extLst>
              <a:ext uri="{FF2B5EF4-FFF2-40B4-BE49-F238E27FC236}">
                <a16:creationId xmlns:a16="http://schemas.microsoft.com/office/drawing/2014/main" id="{59B3DA99-2BD2-8DAE-6499-5F8329197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osiaicBubbles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96" r="5935" b="-1"/>
          <a:stretch>
            <a:fillRect/>
          </a:stretch>
        </p:blipFill>
        <p:spPr bwMode="auto">
          <a:xfrm>
            <a:off x="5111574" y="1371600"/>
            <a:ext cx="6470826" cy="44196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27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B2A3EA-48F4-A4D7-B037-8CF61A13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5105400" cy="5181600"/>
          </a:xfrm>
        </p:spPr>
        <p:txBody>
          <a:bodyPr>
            <a:normAutofit/>
          </a:bodyPr>
          <a:lstStyle/>
          <a:p>
            <a:r>
              <a:rPr lang="en-US" sz="4000" dirty="0" err="1"/>
              <a:t>Bibliografie</a:t>
            </a:r>
            <a:br>
              <a:rPr lang="en-US" dirty="0"/>
            </a:br>
            <a:br>
              <a:rPr lang="en-US" dirty="0"/>
            </a:br>
            <a:br>
              <a:rPr lang="en-US" sz="2200" b="0" cap="none" dirty="0"/>
            </a:br>
            <a:r>
              <a:rPr lang="en-US" sz="2200" b="0" cap="none" dirty="0"/>
              <a:t>- Date </a:t>
            </a:r>
            <a:r>
              <a:rPr lang="en-US" sz="2200" b="0" cap="none" dirty="0" err="1"/>
              <a:t>oficiale</a:t>
            </a:r>
            <a:r>
              <a:rPr lang="en-US" sz="2200" b="0" cap="none" dirty="0"/>
              <a:t> </a:t>
            </a:r>
            <a:r>
              <a:rPr lang="en-US" sz="2200" b="0" cap="none" dirty="0" err="1"/>
              <a:t>ministerul</a:t>
            </a:r>
            <a:r>
              <a:rPr lang="en-US" sz="2200" b="0" cap="none" dirty="0"/>
              <a:t> </a:t>
            </a:r>
            <a:r>
              <a:rPr lang="en-US" sz="2200" b="0" cap="none" dirty="0" err="1"/>
              <a:t>finanțelor</a:t>
            </a:r>
            <a:r>
              <a:rPr lang="en-US" sz="2200" b="0" cap="none" dirty="0"/>
              <a:t> / </a:t>
            </a:r>
            <a:r>
              <a:rPr lang="en-US" sz="2200" b="0" cap="none" dirty="0" err="1"/>
              <a:t>listafirme.Ro</a:t>
            </a:r>
            <a:r>
              <a:rPr lang="en-US" sz="2200" b="0" cap="none" dirty="0"/>
              <a:t>.</a:t>
            </a:r>
            <a:br>
              <a:rPr lang="en-US" sz="2200" b="0" cap="none" dirty="0"/>
            </a:br>
            <a:br>
              <a:rPr lang="en-US" sz="2200" b="0" cap="none" dirty="0"/>
            </a:br>
            <a:br>
              <a:rPr lang="en-US" sz="2200" b="0" cap="none" dirty="0"/>
            </a:br>
            <a:r>
              <a:rPr lang="en-US" sz="2200" b="0" cap="none" dirty="0"/>
              <a:t>- </a:t>
            </a:r>
            <a:r>
              <a:rPr lang="it-IT" sz="2200" b="0" cap="none" dirty="0"/>
              <a:t>Rapoarte pentru investitori endava (NYSE: 20-F).</a:t>
            </a:r>
            <a:br>
              <a:rPr lang="it-IT" sz="2200" b="0" cap="none" dirty="0"/>
            </a:br>
            <a:br>
              <a:rPr lang="it-IT" sz="2200" b="0" cap="none" dirty="0"/>
            </a:br>
            <a:br>
              <a:rPr lang="it-IT" sz="2200" b="0" cap="none" dirty="0"/>
            </a:br>
            <a:r>
              <a:rPr lang="it-IT" sz="2200" b="0" cap="none" dirty="0"/>
              <a:t>- </a:t>
            </a:r>
            <a:r>
              <a:rPr lang="en-US" sz="2200" b="0" cap="none" dirty="0"/>
              <a:t>Site </a:t>
            </a:r>
            <a:r>
              <a:rPr lang="en-US" sz="2200" b="0" cap="none" dirty="0" err="1"/>
              <a:t>oficial</a:t>
            </a:r>
            <a:r>
              <a:rPr lang="en-US" sz="2200" b="0" cap="none" dirty="0"/>
              <a:t> </a:t>
            </a:r>
            <a:r>
              <a:rPr lang="en-US" sz="2200" b="0" cap="none" dirty="0" err="1"/>
              <a:t>endava.Com</a:t>
            </a:r>
            <a:r>
              <a:rPr lang="en-US" sz="2200" b="0" cap="none" dirty="0"/>
              <a:t> (</a:t>
            </a:r>
            <a:r>
              <a:rPr lang="en-US" sz="2200" b="0" cap="none" dirty="0" err="1"/>
              <a:t>secțiunea</a:t>
            </a:r>
            <a:r>
              <a:rPr lang="en-US" sz="2200" b="0" cap="none" dirty="0"/>
              <a:t> "our story").</a:t>
            </a:r>
            <a:endParaRPr lang="en-US" sz="2200" b="0" dirty="0"/>
          </a:p>
        </p:txBody>
      </p:sp>
      <p:pic>
        <p:nvPicPr>
          <p:cNvPr id="9222" name="Picture 6" descr="Our terms and conditions l Endava">
            <a:extLst>
              <a:ext uri="{FF2B5EF4-FFF2-40B4-BE49-F238E27FC236}">
                <a16:creationId xmlns:a16="http://schemas.microsoft.com/office/drawing/2014/main" id="{B4A30811-BAC0-6E85-CD0D-0F0220E20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88763" y="718668"/>
            <a:ext cx="7157679" cy="504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7287D3-E1CC-A78D-CBC7-FFED8620E8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0200" y="990600"/>
            <a:ext cx="6470826" cy="4876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811304"/>
      </p:ext>
    </p:extLst>
  </p:cSld>
  <p:clrMapOvr>
    <a:masterClrMapping/>
  </p:clrMapOvr>
</p:sld>
</file>

<file path=ppt/theme/theme1.xml><?xml version="1.0" encoding="utf-8"?>
<a:theme xmlns:a="http://schemas.openxmlformats.org/drawingml/2006/main" name="Monochrome blac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77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chrome black_5bea5add-6c97-4a41-a1fa-a039388976df_wac_v2" id="{9B2EB732-E258-47BC-8927-E73431036F1F}" vid="{31795664-2011-4E74-82BD-ADEEE70EBC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99ED26-B189-4BA1-99D0-1112D8C2F1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DDBEB5-7F5E-4A92-A1BA-0EEE5C60A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{2B2A940E-DB85-4591-B6B2-21E3808EA23F}b1461aca-2317-43ae-b059-ba831cfc0fef-TF5bea5add-6c97-4a41-a1fa-a039388976df789966be_win32</Template>
  <TotalTime>50</TotalTime>
  <Words>749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Dreaming Outloud Pro</vt:lpstr>
      <vt:lpstr>Neue Haas Grotesk Text Pro</vt:lpstr>
      <vt:lpstr>Monochrome black</vt:lpstr>
      <vt:lpstr>Activitatea de marketing pentru organizatia Endava Romania </vt:lpstr>
      <vt:lpstr>Endava Romania  Fondată în 2000 (sub numele de Concise). În 2006 devine oficial Endava și se extinde  rapid în România (București, Cluj, Iași).  Obiect de activitate:  Servicii de tehnologie și consultanță IT. Se ocupă de  "Digital Transformation"  adică ajută alte firme să treacă de la  procese vechi la soluții digitale moderne.  Indicatori economici (2023):  Cifră de afaceri în România: 1,32 miliarde RON. Profit net în România: 188 milioane RON. Angajați: Peste 4.500 în România cel mai mare pol de talente al grupului. </vt:lpstr>
      <vt:lpstr>Analiza Macromediului (Factorii din exterior) </vt:lpstr>
      <vt:lpstr>Micromediul  Clienții (B2B - business to business): endava lucrează doar cu alte firme mari, împărțite în:  - Plăți și servicii financiare (cel mai mare segment).  - Tehnologie, media și telecomunicații (TMT).  - Retail și logistică.  - Sănătate și mobilitate.   Concurența: se luptă pentru proiecte și angajați cu: luxoft (pe financiar/auto), softserve (pe digitalizare) și stefanini (pe suport tehnic).</vt:lpstr>
      <vt:lpstr>PowerPoint Presentation</vt:lpstr>
      <vt:lpstr>Analiza SWOT  Puncte forte: brand global de prestigiu (listat la bursa NYSE), profituri mari, mulți angajați calificați.  Puncte slabe: prețuri foarte mari care pot alunga clienții cu bugete mici; dependență prea mare de domeniul plăților.  Oportunități: toate firmele din lume vor acum să se digitalizeze; tot mai mulți tineri din românia aleg facultățile de profil tehnic.  Amenințări: concurență mare pentru talente; legile fiscale din românia care se schimbă des și pot afecta profitul. </vt:lpstr>
      <vt:lpstr>Mixul de Marketing - Produs și Preț   Politica de produs: "produsul" lor este expertiza tehnică. Oferă strategie, scriu cod (software customizat) și testează aplicațiile ca să nu aibă erori. Politica de preț: folosesc strategia de "skimming" (adică „iau smântâna”). Explicație: fixează un preț ridicat pentru a atrage clienții cei mai bogați și profitabili. Sunt mai scumpi decât concurența "low-cost", dar oferă calitate premium. </vt:lpstr>
      <vt:lpstr>Mixul de Marketing - Distribuție și Promovare  Politica de distribuție: canal direct (fără intermediari). Livrarea se face digital prin cloud și transfer de cod către serverele clientului. Au 10 centre de livrare în românia.  Politica de promovare: employer branding: se promovează intens în universități și pe linkedin pentru a atrage tineri buni.  Relații publice: participă la conferințe tech mari.  Recomandări: succesul proiectelor vechi (ex: pentru bănci) este cea mai bună reclamă pentru clienții noi. </vt:lpstr>
      <vt:lpstr>Bibliografie   - Date oficiale ministerul finanțelor / listafirme.Ro.   - Rapoarte pentru investitori endava (NYSE: 20-F).   - Site oficial endava.Com (secțiunea "our story").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2026-05-13T19:08:28Z</dcterms:created>
  <dcterms:modified xsi:type="dcterms:W3CDTF">2026-05-13T19:59:08Z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